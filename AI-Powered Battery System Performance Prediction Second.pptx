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Arial" charset="1" panose="020B0604020202020204"/>
      <p:regular r:id="rId16"/>
    </p:embeddedFont>
    <p:embeddedFont>
      <p:font typeface="Arial Bold" charset="1" panose="020B0704020202020204"/>
      <p:regular r:id="rId17"/>
    </p:embeddedFont>
    <p:embeddedFont>
      <p:font typeface="Arial Italics" charset="1" panose="020B0604020202090204"/>
      <p:regular r:id="rId18"/>
    </p:embeddedFont>
    <p:embeddedFont>
      <p:font typeface="Arial Bold Italics" charset="1" panose="020B0704020202090204"/>
      <p:regular r:id="rId19"/>
    </p:embeddedFont>
    <p:embeddedFont>
      <p:font typeface="Lato Bold" charset="1" panose="020F0502020204030203"/>
      <p:regular r:id="rId20"/>
    </p:embeddedFont>
    <p:embeddedFont>
      <p:font typeface="Lato" charset="1" panose="020F0502020204030203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dictionary.cambridge.org/tr/s%C3%B6zl%C3%BCk/ingilizce-t%C3%BCrk%C3%A7e/this" TargetMode="External" Type="http://schemas.openxmlformats.org/officeDocument/2006/relationships/hyperlink"/><Relationship Id="rId11" Target="https://dictionary.cambridge.org/tr/s%C3%B6zl%C3%BCk/ingilizce-t%C3%BCrk%C3%A7e/this" TargetMode="External" Type="http://schemas.openxmlformats.org/officeDocument/2006/relationships/hyperlink"/><Relationship Id="rId12" Target="https://dictionary.cambridge.org/tr/s%C3%B6zl%C3%BCk/ingilizce-t%C3%BCrk%C3%A7e/this" TargetMode="External" Type="http://schemas.openxmlformats.org/officeDocument/2006/relationships/hyperlink"/><Relationship Id="rId13" Target="https://dictionary.cambridge.org/tr/s%C3%B6zl%C3%BCk/ingilizce-t%C3%BCrk%C3%A7e/this" TargetMode="External" Type="http://schemas.openxmlformats.org/officeDocument/2006/relationships/hyperlink"/><Relationship Id="rId14" Target="https://dictionary.cambridge.org/tr/s%C3%B6zl%C3%BCk/ingilizce-t%C3%BCrk%C3%A7e/this" TargetMode="External" Type="http://schemas.openxmlformats.org/officeDocument/2006/relationships/hyperlink"/><Relationship Id="rId15" Target="https://dictionary.cambridge.org/tr/s%C3%B6zl%C3%BCk/ingilizce-t%C3%BCrk%C3%A7e/this" TargetMode="External" Type="http://schemas.openxmlformats.org/officeDocument/2006/relationships/hyperlink"/><Relationship Id="rId16" Target="https://dictionary.cambridge.org/tr/s%C3%B6zl%C3%BCk/ingilizce-t%C3%BCrk%C3%A7e/this" TargetMode="External" Type="http://schemas.openxmlformats.org/officeDocument/2006/relationships/hyperlink"/><Relationship Id="rId17" Target="https://dictionary.cambridge.org/tr/s%C3%B6zl%C3%BCk/ingilizce-t%C3%BCrk%C3%A7e/this" TargetMode="External" Type="http://schemas.openxmlformats.org/officeDocument/2006/relationships/hyperlink"/><Relationship Id="rId18" Target="https://dictionary.cambridge.org/tr/s%C3%B6zl%C3%BCk/ingilizce-t%C3%BCrk%C3%A7e/this" TargetMode="External" Type="http://schemas.openxmlformats.org/officeDocument/2006/relationships/hyperlink"/><Relationship Id="rId19" Target="https://dictionary.cambridge.org/tr/s%C3%B6zl%C3%BCk/ingilizce-t%C3%BCrk%C3%A7e/this" TargetMode="External" Type="http://schemas.openxmlformats.org/officeDocument/2006/relationships/hyperlink"/><Relationship Id="rId2" Target="https://dictionary.cambridge.org/tr/s%C3%B6zl%C3%BCk/ingilizce-t%C3%BCrk%C3%A7e/this" TargetMode="External" Type="http://schemas.openxmlformats.org/officeDocument/2006/relationships/hyperlink"/><Relationship Id="rId20" Target="https://dictionary.cambridge.org/tr/s%C3%B6zl%C3%BCk/ingilizce-t%C3%BCrk%C3%A7e/this" TargetMode="External" Type="http://schemas.openxmlformats.org/officeDocument/2006/relationships/hyperlink"/><Relationship Id="rId21" Target="https://dictionary.cambridge.org/tr/s%C3%B6zl%C3%BCk/ingilizce-t%C3%BCrk%C3%A7e/this" TargetMode="External" Type="http://schemas.openxmlformats.org/officeDocument/2006/relationships/hyperlink"/><Relationship Id="rId22" Target="../media/image1.png" Type="http://schemas.openxmlformats.org/officeDocument/2006/relationships/image"/><Relationship Id="rId23" Target="https://dictionary.cambridge.org/tr/s%C3%B6zl%C3%BCk/ingilizce-t%C3%BCrk%C3%A7e/this" TargetMode="External" Type="http://schemas.openxmlformats.org/officeDocument/2006/relationships/hyperlink"/><Relationship Id="rId24" Target="https://dictionary.cambridge.org/tr/s%C3%B6zl%C3%BCk/ingilizce-t%C3%BCrk%C3%A7e/this" TargetMode="External" Type="http://schemas.openxmlformats.org/officeDocument/2006/relationships/hyperlink"/><Relationship Id="rId25" Target="https://dictionary.cambridge.org/tr/s%C3%B6zl%C3%BCk/ingilizce-t%C3%BCrk%C3%A7e/this" TargetMode="External" Type="http://schemas.openxmlformats.org/officeDocument/2006/relationships/hyperlink"/><Relationship Id="rId26" Target="https://dictionary.cambridge.org/tr/s%C3%B6zl%C3%BCk/ingilizce-t%C3%BCrk%C3%A7e/this" TargetMode="External" Type="http://schemas.openxmlformats.org/officeDocument/2006/relationships/hyperlink"/><Relationship Id="rId27" Target="https://dictionary.cambridge.org/tr/s%C3%B6zl%C3%BCk/ingilizce-t%C3%BCrk%C3%A7e/this" TargetMode="External" Type="http://schemas.openxmlformats.org/officeDocument/2006/relationships/hyperlink"/><Relationship Id="rId28" Target="https://dictionary.cambridge.org/tr/s%C3%B6zl%C3%BCk/ingilizce-t%C3%BCrk%C3%A7e/this" TargetMode="External" Type="http://schemas.openxmlformats.org/officeDocument/2006/relationships/hyperlink"/><Relationship Id="rId3" Target="https://dictionary.cambridge.org/tr/s%C3%B6zl%C3%BCk/ingilizce-t%C3%BCrk%C3%A7e/this" TargetMode="External" Type="http://schemas.openxmlformats.org/officeDocument/2006/relationships/hyperlink"/><Relationship Id="rId4" Target="https://dictionary.cambridge.org/tr/s%C3%B6zl%C3%BCk/ingilizce-t%C3%BCrk%C3%A7e/this" TargetMode="External" Type="http://schemas.openxmlformats.org/officeDocument/2006/relationships/hyperlink"/><Relationship Id="rId5" Target="https://dictionary.cambridge.org/tr/s%C3%B6zl%C3%BCk/ingilizce-t%C3%BCrk%C3%A7e/this" TargetMode="External" Type="http://schemas.openxmlformats.org/officeDocument/2006/relationships/hyperlink"/><Relationship Id="rId6" Target="https://dictionary.cambridge.org/tr/s%C3%B6zl%C3%BCk/ingilizce-t%C3%BCrk%C3%A7e/this" TargetMode="External" Type="http://schemas.openxmlformats.org/officeDocument/2006/relationships/hyperlink"/><Relationship Id="rId7" Target="https://dictionary.cambridge.org/tr/s%C3%B6zl%C3%BCk/ingilizce-t%C3%BCrk%C3%A7e/this" TargetMode="External" Type="http://schemas.openxmlformats.org/officeDocument/2006/relationships/hyperlink"/><Relationship Id="rId8" Target="https://dictionary.cambridge.org/tr/s%C3%B6zl%C3%BCk/ingilizce-t%C3%BCrk%C3%A7e/this" TargetMode="External" Type="http://schemas.openxmlformats.org/officeDocument/2006/relationships/hyperlink"/><Relationship Id="rId9" Target="https://dictionary.cambridge.org/tr/s%C3%B6zl%C3%BCk/ingilizce-t%C3%BCrk%C3%A7e/this" TargetMode="External" Type="http://schemas.openxmlformats.org/officeDocument/2006/relationships/hyperlink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dictionary.cambridge.org/tr/s%C3%B6zl%C3%BCk/ingilizce-t%C3%BCrk%C3%A7e/this" TargetMode="External" Type="http://schemas.openxmlformats.org/officeDocument/2006/relationships/hyperlink"/><Relationship Id="rId11" Target="https://dictionary.cambridge.org/tr/s%C3%B6zl%C3%BCk/ingilizce-t%C3%BCrk%C3%A7e/this" TargetMode="External" Type="http://schemas.openxmlformats.org/officeDocument/2006/relationships/hyperlink"/><Relationship Id="rId12" Target="https://dictionary.cambridge.org/tr/s%C3%B6zl%C3%BCk/ingilizce-t%C3%BCrk%C3%A7e/this" TargetMode="External" Type="http://schemas.openxmlformats.org/officeDocument/2006/relationships/hyperlink"/><Relationship Id="rId13" Target="https://dictionary.cambridge.org/tr/s%C3%B6zl%C3%BCk/ingilizce-t%C3%BCrk%C3%A7e/this" TargetMode="External" Type="http://schemas.openxmlformats.org/officeDocument/2006/relationships/hyperlink"/><Relationship Id="rId14" Target="https://dictionary.cambridge.org/tr/s%C3%B6zl%C3%BCk/ingilizce-t%C3%BCrk%C3%A7e/this" TargetMode="External" Type="http://schemas.openxmlformats.org/officeDocument/2006/relationships/hyperlink"/><Relationship Id="rId15" Target="https://dictionary.cambridge.org/tr/s%C3%B6zl%C3%BCk/ingilizce-t%C3%BCrk%C3%A7e/this" TargetMode="External" Type="http://schemas.openxmlformats.org/officeDocument/2006/relationships/hyperlink"/><Relationship Id="rId16" Target="https://dictionary.cambridge.org/tr/s%C3%B6zl%C3%BCk/ingilizce-t%C3%BCrk%C3%A7e/this" TargetMode="External" Type="http://schemas.openxmlformats.org/officeDocument/2006/relationships/hyperlink"/><Relationship Id="rId17" Target="https://dictionary.cambridge.org/tr/s%C3%B6zl%C3%BCk/ingilizce-t%C3%BCrk%C3%A7e/this" TargetMode="External" Type="http://schemas.openxmlformats.org/officeDocument/2006/relationships/hyperlink"/><Relationship Id="rId18" Target="https://dictionary.cambridge.org/tr/s%C3%B6zl%C3%BCk/ingilizce-t%C3%BCrk%C3%A7e/this" TargetMode="External" Type="http://schemas.openxmlformats.org/officeDocument/2006/relationships/hyperlink"/><Relationship Id="rId19" Target="https://dictionary.cambridge.org/tr/s%C3%B6zl%C3%BCk/ingilizce-t%C3%BCrk%C3%A7e/this" TargetMode="External" Type="http://schemas.openxmlformats.org/officeDocument/2006/relationships/hyperlink"/><Relationship Id="rId2" Target="../media/image1.png" Type="http://schemas.openxmlformats.org/officeDocument/2006/relationships/image"/><Relationship Id="rId20" Target="https://dictionary.cambridge.org/tr/s%C3%B6zl%C3%BCk/ingilizce-t%C3%BCrk%C3%A7e/this" TargetMode="External" Type="http://schemas.openxmlformats.org/officeDocument/2006/relationships/hyperlink"/><Relationship Id="rId21" Target="https://dictionary.cambridge.org/tr/s%C3%B6zl%C3%BCk/ingilizce-t%C3%BCrk%C3%A7e/this" TargetMode="External" Type="http://schemas.openxmlformats.org/officeDocument/2006/relationships/hyperlink"/><Relationship Id="rId22" Target="https://dictionary.cambridge.org/tr/s%C3%B6zl%C3%BCk/ingilizce-t%C3%BCrk%C3%A7e/this" TargetMode="External" Type="http://schemas.openxmlformats.org/officeDocument/2006/relationships/hyperlink"/><Relationship Id="rId23" Target="https://dictionary.cambridge.org/tr/s%C3%B6zl%C3%BCk/ingilizce-t%C3%BCrk%C3%A7e/this" TargetMode="External" Type="http://schemas.openxmlformats.org/officeDocument/2006/relationships/hyperlink"/><Relationship Id="rId24" Target="https://dictionary.cambridge.org/tr/s%C3%B6zl%C3%BCk/ingilizce-t%C3%BCrk%C3%A7e/this" TargetMode="External" Type="http://schemas.openxmlformats.org/officeDocument/2006/relationships/hyperlink"/><Relationship Id="rId25" Target="https://dictionary.cambridge.org/tr/s%C3%B6zl%C3%BCk/ingilizce-t%C3%BCrk%C3%A7e/this" TargetMode="External" Type="http://schemas.openxmlformats.org/officeDocument/2006/relationships/hyperlink"/><Relationship Id="rId26" Target="https://dictionary.cambridge.org/tr/s%C3%B6zl%C3%BCk/ingilizce-t%C3%BCrk%C3%A7e/this" TargetMode="External" Type="http://schemas.openxmlformats.org/officeDocument/2006/relationships/hyperlink"/><Relationship Id="rId3" Target="../media/image3.jpeg" Type="http://schemas.openxmlformats.org/officeDocument/2006/relationships/image"/><Relationship Id="rId4" Target="https://dictionary.cambridge.org/tr/s%C3%B6zl%C3%BCk/ingilizce-t%C3%BCrk%C3%A7e/this" TargetMode="External" Type="http://schemas.openxmlformats.org/officeDocument/2006/relationships/hyperlink"/><Relationship Id="rId5" Target="https://dictionary.cambridge.org/tr/s%C3%B6zl%C3%BCk/ingilizce-t%C3%BCrk%C3%A7e/this" TargetMode="External" Type="http://schemas.openxmlformats.org/officeDocument/2006/relationships/hyperlink"/><Relationship Id="rId6" Target="https://dictionary.cambridge.org/tr/s%C3%B6zl%C3%BCk/ingilizce-t%C3%BCrk%C3%A7e/this" TargetMode="External" Type="http://schemas.openxmlformats.org/officeDocument/2006/relationships/hyperlink"/><Relationship Id="rId7" Target="https://dictionary.cambridge.org/tr/s%C3%B6zl%C3%BCk/ingilizce-t%C3%BCrk%C3%A7e/this" TargetMode="External" Type="http://schemas.openxmlformats.org/officeDocument/2006/relationships/hyperlink"/><Relationship Id="rId8" Target="https://dictionary.cambridge.org/tr/s%C3%B6zl%C3%BCk/ingilizce-t%C3%BCrk%C3%A7e/this" TargetMode="External" Type="http://schemas.openxmlformats.org/officeDocument/2006/relationships/hyperlink"/><Relationship Id="rId9" Target="https://dictionary.cambridge.org/tr/s%C3%B6zl%C3%BCk/ingilizce-t%C3%BCrk%C3%A7e/this" TargetMode="External" Type="http://schemas.openxmlformats.org/officeDocument/2006/relationships/hyperlink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7147">
            <a:off x="-19070" y="2903120"/>
            <a:ext cx="18326140" cy="0"/>
          </a:xfrm>
          <a:prstGeom prst="line">
            <a:avLst/>
          </a:prstGeom>
          <a:ln cap="rnd" w="19050">
            <a:solidFill>
              <a:srgbClr val="1A2A6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7147">
            <a:off x="-19070" y="2992014"/>
            <a:ext cx="18326140" cy="0"/>
          </a:xfrm>
          <a:prstGeom prst="line">
            <a:avLst/>
          </a:prstGeom>
          <a:ln cap="rnd" w="19050">
            <a:solidFill>
              <a:srgbClr val="EE801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7147">
            <a:off x="-19070" y="3093609"/>
            <a:ext cx="18326140" cy="0"/>
          </a:xfrm>
          <a:prstGeom prst="line">
            <a:avLst/>
          </a:prstGeom>
          <a:ln cap="rnd" w="19050">
            <a:solidFill>
              <a:srgbClr val="C1203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3086100" y="3252789"/>
            <a:ext cx="11887200" cy="2519363"/>
            <a:chOff x="0" y="0"/>
            <a:chExt cx="15849600" cy="33591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849600" cy="3359150"/>
            </a:xfrm>
            <a:custGeom>
              <a:avLst/>
              <a:gdLst/>
              <a:ahLst/>
              <a:cxnLst/>
              <a:rect r="r" b="b" t="t" l="l"/>
              <a:pathLst>
                <a:path h="3359150" w="15849600">
                  <a:moveTo>
                    <a:pt x="0" y="0"/>
                  </a:moveTo>
                  <a:lnTo>
                    <a:pt x="15849600" y="0"/>
                  </a:lnTo>
                  <a:lnTo>
                    <a:pt x="15849600" y="3359150"/>
                  </a:lnTo>
                  <a:lnTo>
                    <a:pt x="0" y="3359150"/>
                  </a:lnTo>
                  <a:close/>
                </a:path>
              </a:pathLst>
            </a:custGeom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5849600" cy="3397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7920"/>
                </a:lnSpc>
              </a:pPr>
              <a:r>
                <a:rPr lang="en-US" sz="66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AI-Powered Battery System Performance Prediction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2545333" y="-827970"/>
            <a:ext cx="4713967" cy="4713967"/>
          </a:xfrm>
          <a:custGeom>
            <a:avLst/>
            <a:gdLst/>
            <a:ahLst/>
            <a:cxnLst/>
            <a:rect r="r" b="b" t="t" l="l"/>
            <a:pathLst>
              <a:path h="4713967" w="4713967">
                <a:moveTo>
                  <a:pt x="0" y="0"/>
                </a:moveTo>
                <a:lnTo>
                  <a:pt x="4713967" y="0"/>
                </a:lnTo>
                <a:lnTo>
                  <a:pt x="4713967" y="4713966"/>
                </a:lnTo>
                <a:lnTo>
                  <a:pt x="0" y="47139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93694" y="9877110"/>
            <a:ext cx="2232666" cy="343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00090"/>
                </a:solidFill>
                <a:latin typeface="Arial"/>
                <a:ea typeface="Arial"/>
                <a:cs typeface="Arial"/>
                <a:sym typeface="Arial"/>
              </a:rPr>
              <a:t>www.gtu.edu.tr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358640" y="5506782"/>
            <a:ext cx="10523220" cy="405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031"/>
              </a:lnSpc>
            </a:pPr>
            <a:r>
              <a:rPr lang="en-US" sz="335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CSE 496</a:t>
            </a:r>
          </a:p>
          <a:p>
            <a:pPr algn="r">
              <a:lnSpc>
                <a:spcPts val="4031"/>
              </a:lnSpc>
            </a:pPr>
            <a:r>
              <a:rPr lang="en-US" sz="335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Second Presentation</a:t>
            </a:r>
          </a:p>
          <a:p>
            <a:pPr algn="r">
              <a:lnSpc>
                <a:spcPts val="4031"/>
              </a:lnSpc>
            </a:pPr>
          </a:p>
          <a:p>
            <a:pPr algn="r">
              <a:lnSpc>
                <a:spcPts val="4031"/>
              </a:lnSpc>
            </a:pPr>
            <a:r>
              <a:rPr lang="en-US" sz="335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Dicle ÇOBAN</a:t>
            </a:r>
          </a:p>
          <a:p>
            <a:pPr algn="r">
              <a:lnSpc>
                <a:spcPts val="4031"/>
              </a:lnSpc>
            </a:pPr>
          </a:p>
          <a:p>
            <a:pPr algn="r">
              <a:lnSpc>
                <a:spcPts val="4031"/>
              </a:lnSpc>
            </a:pPr>
            <a:r>
              <a:rPr lang="en-US" sz="335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Advisor: Asst. Prof. Salih SARP</a:t>
            </a:r>
          </a:p>
          <a:p>
            <a:pPr algn="r">
              <a:lnSpc>
                <a:spcPts val="4031"/>
              </a:lnSpc>
            </a:pPr>
            <a:r>
              <a:rPr lang="en-US" sz="335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Asst. Prof. Osman Safa ÇİFÇİ</a:t>
            </a:r>
          </a:p>
          <a:p>
            <a:pPr algn="r">
              <a:lnSpc>
                <a:spcPts val="4031"/>
              </a:lnSpc>
            </a:pPr>
            <a:r>
              <a:rPr lang="en-US" sz="335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April 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93694" y="9877110"/>
            <a:ext cx="2232666" cy="343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00090"/>
                </a:solidFill>
                <a:latin typeface="Arial"/>
                <a:ea typeface="Arial"/>
                <a:cs typeface="Arial"/>
                <a:sym typeface="Arial"/>
              </a:rPr>
              <a:t>www.gtu.edu.tr</a:t>
            </a:r>
          </a:p>
        </p:txBody>
      </p:sp>
      <p:sp>
        <p:nvSpPr>
          <p:cNvPr name="AutoShape 3" id="3"/>
          <p:cNvSpPr/>
          <p:nvPr/>
        </p:nvSpPr>
        <p:spPr>
          <a:xfrm rot="7147">
            <a:off x="-19070" y="1588669"/>
            <a:ext cx="18326140" cy="0"/>
          </a:xfrm>
          <a:prstGeom prst="line">
            <a:avLst/>
          </a:prstGeom>
          <a:ln cap="rnd" w="19050">
            <a:solidFill>
              <a:srgbClr val="1A2A6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7147">
            <a:off x="-19070" y="1677564"/>
            <a:ext cx="18326140" cy="0"/>
          </a:xfrm>
          <a:prstGeom prst="line">
            <a:avLst/>
          </a:prstGeom>
          <a:ln cap="rnd" w="19050">
            <a:solidFill>
              <a:srgbClr val="EE801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7147">
            <a:off x="-19070" y="1779159"/>
            <a:ext cx="18326140" cy="0"/>
          </a:xfrm>
          <a:prstGeom prst="line">
            <a:avLst/>
          </a:prstGeom>
          <a:ln cap="rnd" w="19050">
            <a:solidFill>
              <a:srgbClr val="C1203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429255" y="419101"/>
            <a:ext cx="14632946" cy="1230864"/>
            <a:chOff x="0" y="0"/>
            <a:chExt cx="19510594" cy="16411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510594" cy="1641153"/>
            </a:xfrm>
            <a:custGeom>
              <a:avLst/>
              <a:gdLst/>
              <a:ahLst/>
              <a:cxnLst/>
              <a:rect r="r" b="b" t="t" l="l"/>
              <a:pathLst>
                <a:path h="1641153" w="19510594">
                  <a:moveTo>
                    <a:pt x="0" y="0"/>
                  </a:moveTo>
                  <a:lnTo>
                    <a:pt x="19510594" y="0"/>
                  </a:lnTo>
                  <a:lnTo>
                    <a:pt x="19510594" y="1641153"/>
                  </a:lnTo>
                  <a:lnTo>
                    <a:pt x="0" y="1641153"/>
                  </a:lnTo>
                  <a:close/>
                </a:path>
              </a:pathLst>
            </a:custGeom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9510594" cy="16792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128"/>
                </a:lnSpc>
              </a:pPr>
              <a:r>
                <a:rPr lang="en-US" b="true" sz="5940">
                  <a:solidFill>
                    <a:srgbClr val="1A357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Contents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507280" y="2766804"/>
            <a:ext cx="17273441" cy="5810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8680" indent="-434340" lvl="1">
              <a:lnSpc>
                <a:spcPts val="5759"/>
              </a:lnSpc>
              <a:buFont typeface="Arial"/>
              <a:buChar char="•"/>
            </a:pPr>
            <a:r>
              <a:rPr lang="en-US" sz="4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Definition</a:t>
            </a:r>
          </a:p>
          <a:p>
            <a:pPr algn="l" marL="868680" indent="-434340" lvl="1">
              <a:lnSpc>
                <a:spcPts val="5759"/>
              </a:lnSpc>
              <a:buFont typeface="Arial"/>
              <a:buChar char="•"/>
            </a:pPr>
            <a:r>
              <a:rPr lang="en-US" sz="4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Dataset Update</a:t>
            </a:r>
          </a:p>
          <a:p>
            <a:pPr algn="l" marL="868680" indent="-434340" lvl="1">
              <a:lnSpc>
                <a:spcPts val="5759"/>
              </a:lnSpc>
              <a:buFont typeface="Arial"/>
              <a:buChar char="•"/>
            </a:pPr>
            <a:r>
              <a:rPr lang="en-US" sz="4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New External Dataset</a:t>
            </a:r>
          </a:p>
          <a:p>
            <a:pPr algn="l" marL="868680" indent="-434340" lvl="1">
              <a:lnSpc>
                <a:spcPts val="5759"/>
              </a:lnSpc>
              <a:buFont typeface="Arial"/>
              <a:buChar char="•"/>
            </a:pPr>
            <a:r>
              <a:rPr lang="en-US" sz="4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Labeling Update</a:t>
            </a:r>
          </a:p>
          <a:p>
            <a:pPr algn="l" marL="868680" indent="-434340" lvl="1">
              <a:lnSpc>
                <a:spcPts val="5759"/>
              </a:lnSpc>
              <a:buFont typeface="Arial"/>
              <a:buChar char="•"/>
            </a:pPr>
            <a:r>
              <a:rPr lang="en-US" sz="4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Feature Engineering</a:t>
            </a:r>
          </a:p>
          <a:p>
            <a:pPr algn="l" marL="868680" indent="-434340" lvl="1">
              <a:lnSpc>
                <a:spcPts val="5759"/>
              </a:lnSpc>
              <a:buFont typeface="Arial"/>
              <a:buChar char="•"/>
            </a:pPr>
            <a:r>
              <a:rPr lang="en-US" sz="4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Main Results and Next Steps</a:t>
            </a:r>
          </a:p>
          <a:p>
            <a:pPr algn="l" marL="868680" indent="-434340" lvl="1">
              <a:lnSpc>
                <a:spcPts val="5759"/>
              </a:lnSpc>
              <a:buFont typeface="Arial"/>
              <a:buChar char="•"/>
            </a:pPr>
            <a:r>
              <a:rPr lang="en-US" sz="4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References</a:t>
            </a:r>
          </a:p>
          <a:p>
            <a:pPr algn="l">
              <a:lnSpc>
                <a:spcPts val="5759"/>
              </a:lnSpc>
            </a:pPr>
          </a:p>
        </p:txBody>
      </p:sp>
      <p:grpSp>
        <p:nvGrpSpPr>
          <p:cNvPr name="Group 10" id="10"/>
          <p:cNvGrpSpPr/>
          <p:nvPr/>
        </p:nvGrpSpPr>
        <p:grpSpPr>
          <a:xfrm rot="0">
            <a:off x="14911229" y="9736138"/>
            <a:ext cx="1585812" cy="547688"/>
            <a:chOff x="0" y="0"/>
            <a:chExt cx="2114416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14416" cy="730250"/>
            </a:xfrm>
            <a:custGeom>
              <a:avLst/>
              <a:gdLst/>
              <a:ahLst/>
              <a:cxnLst/>
              <a:rect r="r" b="b" t="t" l="l"/>
              <a:pathLst>
                <a:path h="730250" w="2114416">
                  <a:moveTo>
                    <a:pt x="0" y="0"/>
                  </a:moveTo>
                  <a:lnTo>
                    <a:pt x="2114416" y="0"/>
                  </a:lnTo>
                  <a:lnTo>
                    <a:pt x="2114416" y="730250"/>
                  </a:lnTo>
                  <a:lnTo>
                    <a:pt x="0" y="730250"/>
                  </a:lnTo>
                  <a:close/>
                </a:path>
              </a:pathLst>
            </a:custGeom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2114416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  <a:r>
                <a:rPr lang="en-US" sz="1800">
                  <a:solidFill>
                    <a:srgbClr val="898989"/>
                  </a:solidFill>
                  <a:latin typeface="Arial"/>
                  <a:ea typeface="Arial"/>
                  <a:cs typeface="Arial"/>
                  <a:sym typeface="Arial"/>
                </a:rPr>
                <a:t>.03.2026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514600" y="9736138"/>
            <a:ext cx="11988799" cy="547688"/>
            <a:chOff x="0" y="0"/>
            <a:chExt cx="15985066" cy="7302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5985066" cy="730250"/>
            </a:xfrm>
            <a:custGeom>
              <a:avLst/>
              <a:gdLst/>
              <a:ahLst/>
              <a:cxnLst/>
              <a:rect r="r" b="b" t="t" l="l"/>
              <a:pathLst>
                <a:path h="730250" w="15985066">
                  <a:moveTo>
                    <a:pt x="0" y="0"/>
                  </a:moveTo>
                  <a:lnTo>
                    <a:pt x="15985066" y="0"/>
                  </a:lnTo>
                  <a:lnTo>
                    <a:pt x="15985066" y="730250"/>
                  </a:lnTo>
                  <a:lnTo>
                    <a:pt x="0" y="730250"/>
                  </a:lnTo>
                  <a:close/>
                </a:path>
              </a:pathLst>
            </a:custGeom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15985066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Arial"/>
                  <a:ea typeface="Arial"/>
                  <a:cs typeface="Arial"/>
                  <a:sym typeface="Arial"/>
                </a:rPr>
                <a:t>CSE496 – First Presentation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6497042" y="9736138"/>
            <a:ext cx="1388533" cy="547688"/>
            <a:chOff x="0" y="0"/>
            <a:chExt cx="1851378" cy="7302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851378" cy="730250"/>
            </a:xfrm>
            <a:custGeom>
              <a:avLst/>
              <a:gdLst/>
              <a:ahLst/>
              <a:cxnLst/>
              <a:rect r="r" b="b" t="t" l="l"/>
              <a:pathLst>
                <a:path h="730250" w="1851378">
                  <a:moveTo>
                    <a:pt x="0" y="0"/>
                  </a:moveTo>
                  <a:lnTo>
                    <a:pt x="1851378" y="0"/>
                  </a:lnTo>
                  <a:lnTo>
                    <a:pt x="1851378" y="730250"/>
                  </a:lnTo>
                  <a:lnTo>
                    <a:pt x="0" y="730250"/>
                  </a:lnTo>
                  <a:close/>
                </a:path>
              </a:pathLst>
            </a:custGeom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1851378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15713660" y="-423595"/>
            <a:ext cx="2583865" cy="2583865"/>
          </a:xfrm>
          <a:custGeom>
            <a:avLst/>
            <a:gdLst/>
            <a:ahLst/>
            <a:cxnLst/>
            <a:rect r="r" b="b" t="t" l="l"/>
            <a:pathLst>
              <a:path h="2583865" w="2583865">
                <a:moveTo>
                  <a:pt x="0" y="0"/>
                </a:moveTo>
                <a:lnTo>
                  <a:pt x="2583865" y="0"/>
                </a:lnTo>
                <a:lnTo>
                  <a:pt x="2583865" y="2583865"/>
                </a:lnTo>
                <a:lnTo>
                  <a:pt x="0" y="25838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93694" y="9877110"/>
            <a:ext cx="2232666" cy="343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00090"/>
                </a:solidFill>
                <a:latin typeface="Arial"/>
                <a:ea typeface="Arial"/>
                <a:cs typeface="Arial"/>
                <a:sym typeface="Arial"/>
              </a:rPr>
              <a:t>www.gtu.edu.tr</a:t>
            </a:r>
          </a:p>
        </p:txBody>
      </p:sp>
      <p:sp>
        <p:nvSpPr>
          <p:cNvPr name="AutoShape 3" id="3"/>
          <p:cNvSpPr/>
          <p:nvPr/>
        </p:nvSpPr>
        <p:spPr>
          <a:xfrm rot="7147">
            <a:off x="-19070" y="1588669"/>
            <a:ext cx="18326140" cy="0"/>
          </a:xfrm>
          <a:prstGeom prst="line">
            <a:avLst/>
          </a:prstGeom>
          <a:ln cap="rnd" w="19050">
            <a:solidFill>
              <a:srgbClr val="1A2A6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7147">
            <a:off x="-19070" y="1677564"/>
            <a:ext cx="18326140" cy="0"/>
          </a:xfrm>
          <a:prstGeom prst="line">
            <a:avLst/>
          </a:prstGeom>
          <a:ln cap="rnd" w="19050">
            <a:solidFill>
              <a:srgbClr val="EE801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7147">
            <a:off x="-19070" y="1779159"/>
            <a:ext cx="18326140" cy="0"/>
          </a:xfrm>
          <a:prstGeom prst="line">
            <a:avLst/>
          </a:prstGeom>
          <a:ln cap="rnd" w="19050">
            <a:solidFill>
              <a:srgbClr val="C1203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429255" y="419101"/>
            <a:ext cx="14632946" cy="1230864"/>
            <a:chOff x="0" y="0"/>
            <a:chExt cx="19510594" cy="16411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510594" cy="1641153"/>
            </a:xfrm>
            <a:custGeom>
              <a:avLst/>
              <a:gdLst/>
              <a:ahLst/>
              <a:cxnLst/>
              <a:rect r="r" b="b" t="t" l="l"/>
              <a:pathLst>
                <a:path h="1641153" w="19510594">
                  <a:moveTo>
                    <a:pt x="0" y="0"/>
                  </a:moveTo>
                  <a:lnTo>
                    <a:pt x="19510594" y="0"/>
                  </a:lnTo>
                  <a:lnTo>
                    <a:pt x="19510594" y="1641153"/>
                  </a:lnTo>
                  <a:lnTo>
                    <a:pt x="0" y="1641153"/>
                  </a:lnTo>
                  <a:close/>
                </a:path>
              </a:pathLst>
            </a:custGeom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9510594" cy="16792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128"/>
                </a:lnSpc>
              </a:pPr>
              <a:r>
                <a:rPr lang="en-US" sz="5940" b="true">
                  <a:solidFill>
                    <a:srgbClr val="1A357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Project Definition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514600" y="9736138"/>
            <a:ext cx="11988799" cy="547688"/>
            <a:chOff x="0" y="0"/>
            <a:chExt cx="15985066" cy="73025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5985066" cy="730250"/>
            </a:xfrm>
            <a:custGeom>
              <a:avLst/>
              <a:gdLst/>
              <a:ahLst/>
              <a:cxnLst/>
              <a:rect r="r" b="b" t="t" l="l"/>
              <a:pathLst>
                <a:path h="730250" w="15985066">
                  <a:moveTo>
                    <a:pt x="0" y="0"/>
                  </a:moveTo>
                  <a:lnTo>
                    <a:pt x="15985066" y="0"/>
                  </a:lnTo>
                  <a:lnTo>
                    <a:pt x="15985066" y="730250"/>
                  </a:lnTo>
                  <a:lnTo>
                    <a:pt x="0" y="730250"/>
                  </a:lnTo>
                  <a:close/>
                </a:path>
              </a:pathLst>
            </a:custGeom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15985066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Arial"/>
                  <a:ea typeface="Arial"/>
                  <a:cs typeface="Arial"/>
                  <a:sym typeface="Arial"/>
                </a:rPr>
                <a:t>CSE496 – First Presentation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6497042" y="9736138"/>
            <a:ext cx="1388533" cy="547688"/>
            <a:chOff x="0" y="0"/>
            <a:chExt cx="1851378" cy="7302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851378" cy="730250"/>
            </a:xfrm>
            <a:custGeom>
              <a:avLst/>
              <a:gdLst/>
              <a:ahLst/>
              <a:cxnLst/>
              <a:rect r="r" b="b" t="t" l="l"/>
              <a:pathLst>
                <a:path h="730250" w="1851378">
                  <a:moveTo>
                    <a:pt x="0" y="0"/>
                  </a:moveTo>
                  <a:lnTo>
                    <a:pt x="1851378" y="0"/>
                  </a:lnTo>
                  <a:lnTo>
                    <a:pt x="1851378" y="730250"/>
                  </a:lnTo>
                  <a:lnTo>
                    <a:pt x="0" y="730250"/>
                  </a:lnTo>
                  <a:close/>
                </a:path>
              </a:pathLst>
            </a:custGeom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1851378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393695" y="2145867"/>
            <a:ext cx="7864480" cy="7458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b="true" sz="33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  <a:hlinkClick r:id="rId2" tooltip="https://dictionary.cambridge.org/tr/s%C3%B6zl%C3%BCk/ingilizce-t%C3%BCrk%C3%A7e/this"/>
              </a:rPr>
              <a:t>Background:</a:t>
            </a: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3" tooltip="https://dictionary.cambridge.org/tr/s%C3%B6zl%C3%BCk/ingilizce-t%C3%BCrk%C3%A7e/this"/>
              </a:rPr>
              <a:t> Battery degradat</a:t>
            </a: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4" tooltip="https://dictionary.cambridge.org/tr/s%C3%B6zl%C3%BCk/ingilizce-t%C3%BCrk%C3%A7e/this"/>
              </a:rPr>
              <a:t>ion causes capacity loss and eventual failure. Predicting cycle life accurately </a:t>
            </a:r>
            <a:r>
              <a:rPr lang="en-US" sz="3300" i="true">
                <a:solidFill>
                  <a:srgbClr val="000000"/>
                </a:solidFill>
                <a:latin typeface="Arial Italics"/>
                <a:ea typeface="Arial Italics"/>
                <a:cs typeface="Arial Italics"/>
                <a:sym typeface="Arial Italics"/>
                <a:hlinkClick r:id="rId5" tooltip="https://dictionary.cambridge.org/tr/s%C3%B6zl%C3%BCk/ingilizce-t%C3%BCrk%C3%A7e/this"/>
              </a:rPr>
              <a:t>and across different battery types  </a:t>
            </a: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6" tooltip="https://dictionary.cambridge.org/tr/s%C3%B6zl%C3%BCk/ingilizce-t%C3%BCrk%C3%A7e/this"/>
              </a:rPr>
              <a:t>remains an open challenge.</a:t>
            </a:r>
          </a:p>
          <a:p>
            <a:pPr algn="l">
              <a:lnSpc>
                <a:spcPts val="3960"/>
              </a:lnSpc>
            </a:pPr>
          </a:p>
          <a:p>
            <a:pPr algn="l">
              <a:lnSpc>
                <a:spcPts val="3960"/>
              </a:lnSpc>
            </a:pPr>
            <a:r>
              <a:rPr lang="en-US" b="true" sz="33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  <a:hlinkClick r:id="rId7" tooltip="https://dictionary.cambridge.org/tr/s%C3%B6zl%C3%BCk/ingilizce-t%C3%BCrk%C3%A7e/this"/>
              </a:rPr>
              <a:t>Fall Semester Result:</a:t>
            </a: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8" tooltip="https://dictionary.cambridge.org/tr/s%C3%B6zl%C3%BCk/ingilizce-t%C3%BCrk%C3%A7e/this"/>
              </a:rPr>
              <a:t> Buil</a:t>
            </a: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9" tooltip="https://dictionary.cambridge.org/tr/s%C3%B6zl%C3%BCk/ingilizce-t%C3%BCrk%C3%A7e/this"/>
              </a:rPr>
              <a:t>t</a:t>
            </a: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10" tooltip="https://dictionary.cambridge.org/tr/s%C3%B6zl%C3%BCk/ingilizce-t%C3%BCrk%C3%A7e/this"/>
              </a:rPr>
              <a:t> </a:t>
            </a: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11" tooltip="https://dictionary.cambridge.org/tr/s%C3%B6zl%C3%BCk/ingilizce-t%C3%BCrk%C3%A7e/this"/>
              </a:rPr>
              <a:t>a</a:t>
            </a: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12" tooltip="https://dictionary.cambridge.org/tr/s%C3%B6zl%C3%BCk/ingilizce-t%C3%BCrk%C3%A7e/this"/>
              </a:rPr>
              <a:t> cyc</a:t>
            </a: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13" tooltip="https://dictionary.cambridge.org/tr/s%C3%B6zl%C3%BCk/ingilizce-t%C3%BCrk%C3%A7e/this"/>
              </a:rPr>
              <a:t>l</a:t>
            </a: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14" tooltip="https://dictionary.cambridge.org/tr/s%C3%B6zl%C3%BCk/ingilizce-t%C3%BCrk%C3%A7e/this"/>
              </a:rPr>
              <a:t>e-</a:t>
            </a: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15" tooltip="https://dictionary.cambridge.org/tr/s%C3%B6zl%C3%BCk/ingilizce-t%C3%BCrk%C3%A7e/this"/>
              </a:rPr>
              <a:t>life</a:t>
            </a: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16" tooltip="https://dictionary.cambridge.org/tr/s%C3%B6zl%C3%BCk/ingilizce-t%C3%BCrk%C3%A7e/this"/>
              </a:rPr>
              <a:t> prediction pi</a:t>
            </a: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17" tooltip="https://dictionary.cambridge.org/tr/s%C3%B6zl%C3%BCk/ingilizce-t%C3%BCrk%C3%A7e/this"/>
              </a:rPr>
              <a:t>p</a:t>
            </a: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18" tooltip="https://dictionary.cambridge.org/tr/s%C3%B6zl%C3%BCk/ingilizce-t%C3%BCrk%C3%A7e/this"/>
              </a:rPr>
              <a:t>eli</a:t>
            </a: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19" tooltip="https://dictionary.cambridge.org/tr/s%C3%B6zl%C3%BCk/ingilizce-t%C3%BCrk%C3%A7e/this"/>
              </a:rPr>
              <a:t>n</a:t>
            </a: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20" tooltip="https://dictionary.cambridge.org/tr/s%C3%B6zl%C3%BCk/ingilizce-t%C3%BCrk%C3%A7e/this"/>
              </a:rPr>
              <a:t>e on the MATR dataset (93 LFP cells, 8 engineered features, CatBoost model). </a:t>
            </a:r>
          </a:p>
          <a:p>
            <a:pPr algn="l">
              <a:lnSpc>
                <a:spcPts val="3960"/>
              </a:lnSpc>
            </a:pPr>
          </a:p>
          <a:p>
            <a:pPr algn="l">
              <a:lnSpc>
                <a:spcPts val="3960"/>
              </a:lnSpc>
            </a:pPr>
            <a:r>
              <a:rPr lang="en-US" b="true" sz="3300" i="true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  <a:hlinkClick r:id="rId21" tooltip="https://dictionary.cambridge.org/tr/s%C3%B6zl%C3%BCk/ingilizce-t%C3%BCrk%C3%A7e/this"/>
              </a:rPr>
              <a:t>Best CV result: MAE ≈ 96 cycles, SMAPE ≈ 13%.</a:t>
            </a:r>
          </a:p>
          <a:p>
            <a:pPr algn="l">
              <a:lnSpc>
                <a:spcPts val="3960"/>
              </a:lnSpc>
            </a:pPr>
          </a:p>
          <a:p>
            <a:pPr algn="l">
              <a:lnSpc>
                <a:spcPts val="3960"/>
              </a:lnSpc>
            </a:pPr>
          </a:p>
        </p:txBody>
      </p:sp>
      <p:grpSp>
        <p:nvGrpSpPr>
          <p:cNvPr name="Group 16" id="16"/>
          <p:cNvGrpSpPr/>
          <p:nvPr/>
        </p:nvGrpSpPr>
        <p:grpSpPr>
          <a:xfrm rot="0">
            <a:off x="9942984" y="5319717"/>
            <a:ext cx="6768152" cy="3938583"/>
            <a:chOff x="0" y="0"/>
            <a:chExt cx="9024203" cy="5251445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3150861" cy="1343880"/>
              <a:chOff x="0" y="0"/>
              <a:chExt cx="791186" cy="33745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791186" cy="337450"/>
              </a:xfrm>
              <a:custGeom>
                <a:avLst/>
                <a:gdLst/>
                <a:ahLst/>
                <a:cxnLst/>
                <a:rect r="r" b="b" t="t" l="l"/>
                <a:pathLst>
                  <a:path h="337450" w="791186">
                    <a:moveTo>
                      <a:pt x="0" y="0"/>
                    </a:moveTo>
                    <a:lnTo>
                      <a:pt x="791186" y="0"/>
                    </a:lnTo>
                    <a:lnTo>
                      <a:pt x="791186" y="337450"/>
                    </a:lnTo>
                    <a:lnTo>
                      <a:pt x="0" y="337450"/>
                    </a:lnTo>
                    <a:close/>
                  </a:path>
                </a:pathLst>
              </a:custGeom>
              <a:ln w="19050" cap="sq">
                <a:solidFill>
                  <a:srgbClr val="7C898B"/>
                </a:solidFill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57150"/>
                <a:ext cx="791186" cy="394600"/>
              </a:xfrm>
              <a:prstGeom prst="rect">
                <a:avLst/>
              </a:prstGeom>
            </p:spPr>
            <p:txBody>
              <a:bodyPr anchor="ctr" rtlCol="false" tIns="64577" lIns="64577" bIns="64577" rIns="64577"/>
              <a:lstStyle/>
              <a:p>
                <a:pPr algn="ctr">
                  <a:lnSpc>
                    <a:spcPts val="3219"/>
                  </a:lnSpc>
                </a:pPr>
                <a:r>
                  <a:rPr lang="en-US" b="true" sz="2299" spc="-45">
                    <a:solidFill>
                      <a:srgbClr val="253439"/>
                    </a:solidFill>
                    <a:latin typeface="Lato Bold"/>
                    <a:ea typeface="Lato Bold"/>
                    <a:cs typeface="Lato Bold"/>
                    <a:sym typeface="Lato Bold"/>
                  </a:rPr>
                  <a:t> Battery Data</a:t>
                </a: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0">
              <a:off x="2946375" y="1892884"/>
              <a:ext cx="3150861" cy="1343880"/>
              <a:chOff x="0" y="0"/>
              <a:chExt cx="791186" cy="33745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791186" cy="337450"/>
              </a:xfrm>
              <a:custGeom>
                <a:avLst/>
                <a:gdLst/>
                <a:ahLst/>
                <a:cxnLst/>
                <a:rect r="r" b="b" t="t" l="l"/>
                <a:pathLst>
                  <a:path h="337450" w="791186">
                    <a:moveTo>
                      <a:pt x="0" y="0"/>
                    </a:moveTo>
                    <a:lnTo>
                      <a:pt x="791186" y="0"/>
                    </a:lnTo>
                    <a:lnTo>
                      <a:pt x="791186" y="337450"/>
                    </a:lnTo>
                    <a:lnTo>
                      <a:pt x="0" y="337450"/>
                    </a:lnTo>
                    <a:close/>
                  </a:path>
                </a:pathLst>
              </a:custGeom>
              <a:ln w="19050" cap="sq">
                <a:solidFill>
                  <a:srgbClr val="7C898B"/>
                </a:solidFill>
                <a:prstDash val="solid"/>
                <a:miter/>
              </a:ln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57150"/>
                <a:ext cx="791186" cy="394600"/>
              </a:xfrm>
              <a:prstGeom prst="rect">
                <a:avLst/>
              </a:prstGeom>
            </p:spPr>
            <p:txBody>
              <a:bodyPr anchor="ctr" rtlCol="false" tIns="64577" lIns="64577" bIns="64577" rIns="64577"/>
              <a:lstStyle/>
              <a:p>
                <a:pPr algn="ctr">
                  <a:lnSpc>
                    <a:spcPts val="3219"/>
                  </a:lnSpc>
                </a:pPr>
                <a:r>
                  <a:rPr lang="en-US" b="true" sz="2299" spc="-45">
                    <a:solidFill>
                      <a:srgbClr val="253439"/>
                    </a:solidFill>
                    <a:latin typeface="Lato Bold"/>
                    <a:ea typeface="Lato Bold"/>
                    <a:cs typeface="Lato Bold"/>
                    <a:sym typeface="Lato Bold"/>
                  </a:rPr>
                  <a:t>AI Models</a:t>
                </a:r>
              </a:p>
            </p:txBody>
          </p:sp>
        </p:grpSp>
        <p:grpSp>
          <p:nvGrpSpPr>
            <p:cNvPr name="Group 23" id="23"/>
            <p:cNvGrpSpPr/>
            <p:nvPr/>
          </p:nvGrpSpPr>
          <p:grpSpPr>
            <a:xfrm rot="0">
              <a:off x="5873342" y="3907564"/>
              <a:ext cx="3150861" cy="1343880"/>
              <a:chOff x="0" y="0"/>
              <a:chExt cx="791186" cy="33745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791186" cy="337450"/>
              </a:xfrm>
              <a:custGeom>
                <a:avLst/>
                <a:gdLst/>
                <a:ahLst/>
                <a:cxnLst/>
                <a:rect r="r" b="b" t="t" l="l"/>
                <a:pathLst>
                  <a:path h="337450" w="791186">
                    <a:moveTo>
                      <a:pt x="0" y="0"/>
                    </a:moveTo>
                    <a:lnTo>
                      <a:pt x="791186" y="0"/>
                    </a:lnTo>
                    <a:lnTo>
                      <a:pt x="791186" y="337450"/>
                    </a:lnTo>
                    <a:lnTo>
                      <a:pt x="0" y="337450"/>
                    </a:lnTo>
                    <a:close/>
                  </a:path>
                </a:pathLst>
              </a:custGeom>
              <a:ln w="19050" cap="sq">
                <a:solidFill>
                  <a:srgbClr val="7C898B"/>
                </a:solidFill>
                <a:prstDash val="solid"/>
                <a:miter/>
              </a:ln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57150"/>
                <a:ext cx="791186" cy="394600"/>
              </a:xfrm>
              <a:prstGeom prst="rect">
                <a:avLst/>
              </a:prstGeom>
            </p:spPr>
            <p:txBody>
              <a:bodyPr anchor="ctr" rtlCol="false" tIns="64577" lIns="64577" bIns="64577" rIns="64577"/>
              <a:lstStyle/>
              <a:p>
                <a:pPr algn="ctr">
                  <a:lnSpc>
                    <a:spcPts val="3219"/>
                  </a:lnSpc>
                </a:pPr>
                <a:r>
                  <a:rPr lang="en-US" b="true" sz="2299" spc="-45">
                    <a:solidFill>
                      <a:srgbClr val="253439"/>
                    </a:solidFill>
                    <a:latin typeface="Lato Bold"/>
                    <a:ea typeface="Lato Bold"/>
                    <a:cs typeface="Lato Bold"/>
                    <a:sym typeface="Lato Bold"/>
                  </a:rPr>
                  <a:t>Confidence / Reliability</a:t>
                </a:r>
              </a:p>
            </p:txBody>
          </p:sp>
        </p:grpSp>
        <p:sp>
          <p:nvSpPr>
            <p:cNvPr name="AutoShape 26" id="26"/>
            <p:cNvSpPr/>
            <p:nvPr/>
          </p:nvSpPr>
          <p:spPr>
            <a:xfrm>
              <a:off x="3433151" y="492248"/>
              <a:ext cx="1088654" cy="0"/>
            </a:xfrm>
            <a:prstGeom prst="line">
              <a:avLst/>
            </a:prstGeom>
            <a:ln cap="flat" w="39962">
              <a:solidFill>
                <a:srgbClr val="1A2A63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7" id="27"/>
            <p:cNvSpPr/>
            <p:nvPr/>
          </p:nvSpPr>
          <p:spPr>
            <a:xfrm flipV="true">
              <a:off x="4501824" y="492248"/>
              <a:ext cx="0" cy="1088654"/>
            </a:xfrm>
            <a:prstGeom prst="line">
              <a:avLst/>
            </a:prstGeom>
            <a:ln cap="flat" w="39962">
              <a:solidFill>
                <a:srgbClr val="1A2A63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8" id="28"/>
            <p:cNvSpPr/>
            <p:nvPr/>
          </p:nvSpPr>
          <p:spPr>
            <a:xfrm>
              <a:off x="6390353" y="2525280"/>
              <a:ext cx="1088654" cy="0"/>
            </a:xfrm>
            <a:prstGeom prst="line">
              <a:avLst/>
            </a:prstGeom>
            <a:ln cap="flat" w="39962">
              <a:solidFill>
                <a:srgbClr val="1A2A63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9" id="29"/>
            <p:cNvSpPr/>
            <p:nvPr/>
          </p:nvSpPr>
          <p:spPr>
            <a:xfrm flipV="true">
              <a:off x="7459026" y="2525280"/>
              <a:ext cx="0" cy="1088654"/>
            </a:xfrm>
            <a:prstGeom prst="line">
              <a:avLst/>
            </a:prstGeom>
            <a:ln cap="flat" w="39962">
              <a:solidFill>
                <a:srgbClr val="1A2A63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30" id="30"/>
            <p:cNvGrpSpPr/>
            <p:nvPr/>
          </p:nvGrpSpPr>
          <p:grpSpPr>
            <a:xfrm rot="0">
              <a:off x="4346077" y="1427140"/>
              <a:ext cx="351457" cy="307525"/>
              <a:chOff x="0" y="0"/>
              <a:chExt cx="812800" cy="711200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C00000"/>
              </a:solid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127000" y="31750"/>
                <a:ext cx="558800" cy="349250"/>
              </a:xfrm>
              <a:prstGeom prst="rect">
                <a:avLst/>
              </a:prstGeom>
            </p:spPr>
            <p:txBody>
              <a:bodyPr anchor="ctr" rtlCol="false" tIns="64577" lIns="64577" bIns="64577" rIns="64577"/>
              <a:lstStyle/>
              <a:p>
                <a:pPr algn="ctr">
                  <a:lnSpc>
                    <a:spcPts val="2159"/>
                  </a:lnSpc>
                </a:pPr>
              </a:p>
            </p:txBody>
          </p:sp>
        </p:grpSp>
        <p:grpSp>
          <p:nvGrpSpPr>
            <p:cNvPr name="Group 33" id="33"/>
            <p:cNvGrpSpPr/>
            <p:nvPr/>
          </p:nvGrpSpPr>
          <p:grpSpPr>
            <a:xfrm rot="0">
              <a:off x="7273044" y="3460172"/>
              <a:ext cx="351457" cy="307525"/>
              <a:chOff x="0" y="0"/>
              <a:chExt cx="812800" cy="711200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C00000"/>
              </a:solid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127000" y="31750"/>
                <a:ext cx="558800" cy="349250"/>
              </a:xfrm>
              <a:prstGeom prst="rect">
                <a:avLst/>
              </a:prstGeom>
            </p:spPr>
            <p:txBody>
              <a:bodyPr anchor="ctr" rtlCol="false" tIns="64577" lIns="64577" bIns="64577" rIns="64577"/>
              <a:lstStyle/>
              <a:p>
                <a:pPr algn="ctr">
                  <a:lnSpc>
                    <a:spcPts val="2159"/>
                  </a:lnSpc>
                </a:pPr>
              </a:p>
            </p:txBody>
          </p:sp>
        </p:grpSp>
      </p:grpSp>
      <p:sp>
        <p:nvSpPr>
          <p:cNvPr name="Freeform 36" id="36"/>
          <p:cNvSpPr/>
          <p:nvPr/>
        </p:nvSpPr>
        <p:spPr>
          <a:xfrm flipH="false" flipV="false" rot="0">
            <a:off x="15713660" y="-423595"/>
            <a:ext cx="2583865" cy="2583865"/>
          </a:xfrm>
          <a:custGeom>
            <a:avLst/>
            <a:gdLst/>
            <a:ahLst/>
            <a:cxnLst/>
            <a:rect r="r" b="b" t="t" l="l"/>
            <a:pathLst>
              <a:path h="2583865" w="2583865">
                <a:moveTo>
                  <a:pt x="0" y="0"/>
                </a:moveTo>
                <a:lnTo>
                  <a:pt x="2583865" y="0"/>
                </a:lnTo>
                <a:lnTo>
                  <a:pt x="2583865" y="2583865"/>
                </a:lnTo>
                <a:lnTo>
                  <a:pt x="0" y="2583865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9394820" y="2179320"/>
            <a:ext cx="7864480" cy="3495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b="true" sz="33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  <a:hlinkClick r:id="rId23" tooltip="https://dictionary.cambridge.org/tr/s%C3%B6zl%C3%BCk/ingilizce-t%C3%BCrk%C3%A7e/this"/>
              </a:rPr>
              <a:t>Two Gaps</a:t>
            </a:r>
            <a:r>
              <a:rPr lang="en-US" b="true" sz="33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  <a:hlinkClick r:id="rId24" tooltip="https://dictionary.cambridge.org/tr/s%C3%B6zl%C3%BCk/ingilizce-t%C3%BCrk%C3%A7e/this"/>
              </a:rPr>
              <a:t>:</a:t>
            </a:r>
          </a:p>
          <a:p>
            <a:pPr algn="l">
              <a:lnSpc>
                <a:spcPts val="3960"/>
              </a:lnSpc>
            </a:pPr>
            <a:r>
              <a:rPr lang="en-US" sz="3300" i="true">
                <a:solidFill>
                  <a:srgbClr val="000000"/>
                </a:solidFill>
                <a:latin typeface="Arial Italics"/>
                <a:ea typeface="Arial Italics"/>
                <a:cs typeface="Arial Italics"/>
                <a:sym typeface="Arial Italics"/>
                <a:hlinkClick r:id="rId25" tooltip="https://dictionary.cambridge.org/tr/s%C3%B6zl%C3%BCk/ingilizce-t%C3%BCrk%C3%A7e/this"/>
              </a:rPr>
              <a:t>Point estimates</a:t>
            </a: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26" tooltip="https://dictionary.cambridge.org/tr/s%C3%B6zl%C3%BCk/ingilizce-t%C3%BCrk%C3%A7e/this"/>
              </a:rPr>
              <a:t>→ no uncertainty bounds.</a:t>
            </a:r>
          </a:p>
          <a:p>
            <a:pPr algn="l">
              <a:lnSpc>
                <a:spcPts val="3960"/>
              </a:lnSpc>
            </a:pPr>
            <a:r>
              <a:rPr lang="en-US" sz="3300" i="true">
                <a:solidFill>
                  <a:srgbClr val="000000"/>
                </a:solidFill>
                <a:latin typeface="Arial Italics"/>
                <a:ea typeface="Arial Italics"/>
                <a:cs typeface="Arial Italics"/>
                <a:sym typeface="Arial Italics"/>
                <a:hlinkClick r:id="rId27" tooltip="https://dictionary.cambridge.org/tr/s%C3%B6zl%C3%BCk/ingilizce-t%C3%BCrk%C3%A7e/this"/>
              </a:rPr>
              <a:t>Single dataset</a:t>
            </a: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28" tooltip="https://dictionary.cambridge.org/tr/s%C3%B6zl%C3%BCk/ingilizce-t%C3%BCrk%C3%A7e/this"/>
              </a:rPr>
              <a:t>→ generalizability to other battery types unknown.</a:t>
            </a:r>
          </a:p>
          <a:p>
            <a:pPr algn="l">
              <a:lnSpc>
                <a:spcPts val="3960"/>
              </a:lnSpc>
            </a:pPr>
          </a:p>
          <a:p>
            <a:pPr algn="l">
              <a:lnSpc>
                <a:spcPts val="3960"/>
              </a:lnSpc>
            </a:pPr>
          </a:p>
        </p:txBody>
      </p:sp>
      <p:grpSp>
        <p:nvGrpSpPr>
          <p:cNvPr name="Group 38" id="38"/>
          <p:cNvGrpSpPr/>
          <p:nvPr/>
        </p:nvGrpSpPr>
        <p:grpSpPr>
          <a:xfrm rot="0">
            <a:off x="14911229" y="9736138"/>
            <a:ext cx="1585812" cy="547688"/>
            <a:chOff x="0" y="0"/>
            <a:chExt cx="2114416" cy="73025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114416" cy="730250"/>
            </a:xfrm>
            <a:custGeom>
              <a:avLst/>
              <a:gdLst/>
              <a:ahLst/>
              <a:cxnLst/>
              <a:rect r="r" b="b" t="t" l="l"/>
              <a:pathLst>
                <a:path h="730250" w="2114416">
                  <a:moveTo>
                    <a:pt x="0" y="0"/>
                  </a:moveTo>
                  <a:lnTo>
                    <a:pt x="2114416" y="0"/>
                  </a:lnTo>
                  <a:lnTo>
                    <a:pt x="2114416" y="730250"/>
                  </a:lnTo>
                  <a:lnTo>
                    <a:pt x="0" y="730250"/>
                  </a:lnTo>
                  <a:close/>
                </a:path>
              </a:pathLst>
            </a:custGeom>
          </p:spPr>
        </p:sp>
        <p:sp>
          <p:nvSpPr>
            <p:cNvPr name="TextBox 40" id="40"/>
            <p:cNvSpPr txBox="true"/>
            <p:nvPr/>
          </p:nvSpPr>
          <p:spPr>
            <a:xfrm>
              <a:off x="0" y="-19050"/>
              <a:ext cx="2114416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  <a:r>
                <a:rPr lang="en-US" sz="1800">
                  <a:solidFill>
                    <a:srgbClr val="898989"/>
                  </a:solidFill>
                  <a:latin typeface="Arial"/>
                  <a:ea typeface="Arial"/>
                  <a:cs typeface="Arial"/>
                  <a:sym typeface="Arial"/>
                </a:rPr>
                <a:t>.03.2026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93694" y="9877110"/>
            <a:ext cx="2232666" cy="343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00090"/>
                </a:solidFill>
                <a:latin typeface="Arial"/>
                <a:ea typeface="Arial"/>
                <a:cs typeface="Arial"/>
                <a:sym typeface="Arial"/>
              </a:rPr>
              <a:t>www.gtu.edu.tr</a:t>
            </a:r>
          </a:p>
        </p:txBody>
      </p:sp>
      <p:sp>
        <p:nvSpPr>
          <p:cNvPr name="AutoShape 3" id="3"/>
          <p:cNvSpPr/>
          <p:nvPr/>
        </p:nvSpPr>
        <p:spPr>
          <a:xfrm rot="7147">
            <a:off x="-19070" y="1588669"/>
            <a:ext cx="18326140" cy="0"/>
          </a:xfrm>
          <a:prstGeom prst="line">
            <a:avLst/>
          </a:prstGeom>
          <a:ln cap="rnd" w="19050">
            <a:solidFill>
              <a:srgbClr val="1A2A6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7147">
            <a:off x="-19070" y="1677564"/>
            <a:ext cx="18326140" cy="0"/>
          </a:xfrm>
          <a:prstGeom prst="line">
            <a:avLst/>
          </a:prstGeom>
          <a:ln cap="rnd" w="19050">
            <a:solidFill>
              <a:srgbClr val="EE801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7147">
            <a:off x="-19070" y="1779159"/>
            <a:ext cx="18326140" cy="0"/>
          </a:xfrm>
          <a:prstGeom prst="line">
            <a:avLst/>
          </a:prstGeom>
          <a:ln cap="rnd" w="19050">
            <a:solidFill>
              <a:srgbClr val="C1203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393695" y="319705"/>
            <a:ext cx="14632946" cy="1230864"/>
            <a:chOff x="0" y="0"/>
            <a:chExt cx="19510594" cy="16411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510594" cy="1641153"/>
            </a:xfrm>
            <a:custGeom>
              <a:avLst/>
              <a:gdLst/>
              <a:ahLst/>
              <a:cxnLst/>
              <a:rect r="r" b="b" t="t" l="l"/>
              <a:pathLst>
                <a:path h="1641153" w="19510594">
                  <a:moveTo>
                    <a:pt x="0" y="0"/>
                  </a:moveTo>
                  <a:lnTo>
                    <a:pt x="19510594" y="0"/>
                  </a:lnTo>
                  <a:lnTo>
                    <a:pt x="19510594" y="1641153"/>
                  </a:lnTo>
                  <a:lnTo>
                    <a:pt x="0" y="1641153"/>
                  </a:lnTo>
                  <a:close/>
                </a:path>
              </a:pathLst>
            </a:custGeom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9510594" cy="16792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128"/>
                </a:lnSpc>
              </a:pPr>
              <a:r>
                <a:rPr lang="en-US" sz="5940" b="true">
                  <a:solidFill>
                    <a:srgbClr val="1A357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Dataset Update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514600" y="9736138"/>
            <a:ext cx="11988799" cy="547688"/>
            <a:chOff x="0" y="0"/>
            <a:chExt cx="15985066" cy="73025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5985066" cy="730250"/>
            </a:xfrm>
            <a:custGeom>
              <a:avLst/>
              <a:gdLst/>
              <a:ahLst/>
              <a:cxnLst/>
              <a:rect r="r" b="b" t="t" l="l"/>
              <a:pathLst>
                <a:path h="730250" w="15985066">
                  <a:moveTo>
                    <a:pt x="0" y="0"/>
                  </a:moveTo>
                  <a:lnTo>
                    <a:pt x="15985066" y="0"/>
                  </a:lnTo>
                  <a:lnTo>
                    <a:pt x="15985066" y="730250"/>
                  </a:lnTo>
                  <a:lnTo>
                    <a:pt x="0" y="730250"/>
                  </a:lnTo>
                  <a:close/>
                </a:path>
              </a:pathLst>
            </a:custGeom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15985066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Arial"/>
                  <a:ea typeface="Arial"/>
                  <a:cs typeface="Arial"/>
                  <a:sym typeface="Arial"/>
                </a:rPr>
                <a:t>CSE496 – First Presentation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6497042" y="9736138"/>
            <a:ext cx="1388533" cy="547688"/>
            <a:chOff x="0" y="0"/>
            <a:chExt cx="1851378" cy="7302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851378" cy="730250"/>
            </a:xfrm>
            <a:custGeom>
              <a:avLst/>
              <a:gdLst/>
              <a:ahLst/>
              <a:cxnLst/>
              <a:rect r="r" b="b" t="t" l="l"/>
              <a:pathLst>
                <a:path h="730250" w="1851378">
                  <a:moveTo>
                    <a:pt x="0" y="0"/>
                  </a:moveTo>
                  <a:lnTo>
                    <a:pt x="1851378" y="0"/>
                  </a:lnTo>
                  <a:lnTo>
                    <a:pt x="1851378" y="730250"/>
                  </a:lnTo>
                  <a:lnTo>
                    <a:pt x="0" y="730250"/>
                  </a:lnTo>
                  <a:close/>
                </a:path>
              </a:pathLst>
            </a:custGeom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1851378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5713660" y="-423595"/>
            <a:ext cx="2583865" cy="2583865"/>
          </a:xfrm>
          <a:custGeom>
            <a:avLst/>
            <a:gdLst/>
            <a:ahLst/>
            <a:cxnLst/>
            <a:rect r="r" b="b" t="t" l="l"/>
            <a:pathLst>
              <a:path h="2583865" w="2583865">
                <a:moveTo>
                  <a:pt x="0" y="0"/>
                </a:moveTo>
                <a:lnTo>
                  <a:pt x="2583865" y="0"/>
                </a:lnTo>
                <a:lnTo>
                  <a:pt x="2583865" y="2583865"/>
                </a:lnTo>
                <a:lnTo>
                  <a:pt x="0" y="25838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4911229" y="9736138"/>
            <a:ext cx="1585812" cy="547688"/>
            <a:chOff x="0" y="0"/>
            <a:chExt cx="2114416" cy="7302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14416" cy="730250"/>
            </a:xfrm>
            <a:custGeom>
              <a:avLst/>
              <a:gdLst/>
              <a:ahLst/>
              <a:cxnLst/>
              <a:rect r="r" b="b" t="t" l="l"/>
              <a:pathLst>
                <a:path h="730250" w="2114416">
                  <a:moveTo>
                    <a:pt x="0" y="0"/>
                  </a:moveTo>
                  <a:lnTo>
                    <a:pt x="2114416" y="0"/>
                  </a:lnTo>
                  <a:lnTo>
                    <a:pt x="2114416" y="730250"/>
                  </a:lnTo>
                  <a:lnTo>
                    <a:pt x="0" y="730250"/>
                  </a:lnTo>
                  <a:close/>
                </a:path>
              </a:pathLst>
            </a:custGeom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2114416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  <a:r>
                <a:rPr lang="en-US" sz="1800">
                  <a:solidFill>
                    <a:srgbClr val="898989"/>
                  </a:solidFill>
                  <a:latin typeface="Arial"/>
                  <a:ea typeface="Arial"/>
                  <a:cs typeface="Arial"/>
                  <a:sym typeface="Arial"/>
                </a:rPr>
                <a:t>.03.2026</a:t>
              </a: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8292805" y="2743935"/>
            <a:ext cx="9995195" cy="5875039"/>
          </a:xfrm>
          <a:custGeom>
            <a:avLst/>
            <a:gdLst/>
            <a:ahLst/>
            <a:cxnLst/>
            <a:rect r="r" b="b" t="t" l="l"/>
            <a:pathLst>
              <a:path h="5875039" w="9995195">
                <a:moveTo>
                  <a:pt x="0" y="0"/>
                </a:moveTo>
                <a:lnTo>
                  <a:pt x="9995195" y="0"/>
                </a:lnTo>
                <a:lnTo>
                  <a:pt x="9995195" y="5875038"/>
                </a:lnTo>
                <a:lnTo>
                  <a:pt x="0" y="58750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258337" y="3271624"/>
            <a:ext cx="7864480" cy="4981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b="true" sz="3300" i="true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Correction in Dataset Setup</a:t>
            </a:r>
          </a:p>
          <a:p>
            <a:pPr algn="l">
              <a:lnSpc>
                <a:spcPts val="3960"/>
              </a:lnSpc>
            </a:pPr>
          </a:p>
          <a:p>
            <a:pPr algn="l" marL="712470" indent="-356235" lvl="1">
              <a:lnSpc>
                <a:spcPts val="3960"/>
              </a:lnSpc>
              <a:buAutoNum type="arabicPeriod" startAt="1"/>
            </a:pP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Batch1 and Batch2 are not separate datasets</a:t>
            </a:r>
          </a:p>
          <a:p>
            <a:pPr algn="l" marL="712470" indent="-356235" lvl="1">
              <a:lnSpc>
                <a:spcPts val="3960"/>
              </a:lnSpc>
              <a:buAutoNum type="arabicPeriod" startAt="1"/>
            </a:pP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Batch1 + Batch2 + Batch3 together form MATR</a:t>
            </a:r>
          </a:p>
          <a:p>
            <a:pPr algn="l" marL="712470" indent="-356235" lvl="1">
              <a:lnSpc>
                <a:spcPts val="3960"/>
              </a:lnSpc>
              <a:buAutoNum type="arabicPeriod" startAt="1"/>
            </a:pP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 updated the experiments based on this correction</a:t>
            </a:r>
          </a:p>
          <a:p>
            <a:pPr algn="l">
              <a:lnSpc>
                <a:spcPts val="3960"/>
              </a:lnSpc>
            </a:pPr>
          </a:p>
          <a:p>
            <a:pPr algn="l">
              <a:lnSpc>
                <a:spcPts val="3960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93694" y="9877110"/>
            <a:ext cx="2232666" cy="343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00090"/>
                </a:solidFill>
                <a:latin typeface="Arial"/>
                <a:ea typeface="Arial"/>
                <a:cs typeface="Arial"/>
                <a:sym typeface="Arial"/>
              </a:rPr>
              <a:t>www.gtu.edu.tr</a:t>
            </a:r>
          </a:p>
        </p:txBody>
      </p:sp>
      <p:sp>
        <p:nvSpPr>
          <p:cNvPr name="AutoShape 3" id="3"/>
          <p:cNvSpPr/>
          <p:nvPr/>
        </p:nvSpPr>
        <p:spPr>
          <a:xfrm rot="7147">
            <a:off x="-19070" y="1588669"/>
            <a:ext cx="18326140" cy="0"/>
          </a:xfrm>
          <a:prstGeom prst="line">
            <a:avLst/>
          </a:prstGeom>
          <a:ln cap="rnd" w="19050">
            <a:solidFill>
              <a:srgbClr val="1A2A6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7147">
            <a:off x="-19070" y="1677564"/>
            <a:ext cx="18326140" cy="0"/>
          </a:xfrm>
          <a:prstGeom prst="line">
            <a:avLst/>
          </a:prstGeom>
          <a:ln cap="rnd" w="19050">
            <a:solidFill>
              <a:srgbClr val="EE801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7147">
            <a:off x="-19070" y="1779159"/>
            <a:ext cx="18326140" cy="0"/>
          </a:xfrm>
          <a:prstGeom prst="line">
            <a:avLst/>
          </a:prstGeom>
          <a:ln cap="rnd" w="19050">
            <a:solidFill>
              <a:srgbClr val="C1203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429255" y="419101"/>
            <a:ext cx="14632946" cy="1230864"/>
            <a:chOff x="0" y="0"/>
            <a:chExt cx="19510594" cy="16411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510594" cy="1641153"/>
            </a:xfrm>
            <a:custGeom>
              <a:avLst/>
              <a:gdLst/>
              <a:ahLst/>
              <a:cxnLst/>
              <a:rect r="r" b="b" t="t" l="l"/>
              <a:pathLst>
                <a:path h="1641153" w="19510594">
                  <a:moveTo>
                    <a:pt x="0" y="0"/>
                  </a:moveTo>
                  <a:lnTo>
                    <a:pt x="19510594" y="0"/>
                  </a:lnTo>
                  <a:lnTo>
                    <a:pt x="19510594" y="1641153"/>
                  </a:lnTo>
                  <a:lnTo>
                    <a:pt x="0" y="1641153"/>
                  </a:lnTo>
                  <a:close/>
                </a:path>
              </a:pathLst>
            </a:custGeom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9510594" cy="16792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128"/>
                </a:lnSpc>
              </a:pPr>
              <a:r>
                <a:rPr lang="en-US" sz="5940" b="true">
                  <a:solidFill>
                    <a:srgbClr val="1A357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New External Dataset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514600" y="9736138"/>
            <a:ext cx="11988799" cy="547688"/>
            <a:chOff x="0" y="0"/>
            <a:chExt cx="15985066" cy="73025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5985066" cy="730250"/>
            </a:xfrm>
            <a:custGeom>
              <a:avLst/>
              <a:gdLst/>
              <a:ahLst/>
              <a:cxnLst/>
              <a:rect r="r" b="b" t="t" l="l"/>
              <a:pathLst>
                <a:path h="730250" w="15985066">
                  <a:moveTo>
                    <a:pt x="0" y="0"/>
                  </a:moveTo>
                  <a:lnTo>
                    <a:pt x="15985066" y="0"/>
                  </a:lnTo>
                  <a:lnTo>
                    <a:pt x="15985066" y="730250"/>
                  </a:lnTo>
                  <a:lnTo>
                    <a:pt x="0" y="730250"/>
                  </a:lnTo>
                  <a:close/>
                </a:path>
              </a:pathLst>
            </a:custGeom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15985066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Arial"/>
                  <a:ea typeface="Arial"/>
                  <a:cs typeface="Arial"/>
                  <a:sym typeface="Arial"/>
                </a:rPr>
                <a:t>CSE496 – First Presentation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6497042" y="9736138"/>
            <a:ext cx="1388533" cy="547688"/>
            <a:chOff x="0" y="0"/>
            <a:chExt cx="1851378" cy="7302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851378" cy="730250"/>
            </a:xfrm>
            <a:custGeom>
              <a:avLst/>
              <a:gdLst/>
              <a:ahLst/>
              <a:cxnLst/>
              <a:rect r="r" b="b" t="t" l="l"/>
              <a:pathLst>
                <a:path h="730250" w="1851378">
                  <a:moveTo>
                    <a:pt x="0" y="0"/>
                  </a:moveTo>
                  <a:lnTo>
                    <a:pt x="1851378" y="0"/>
                  </a:lnTo>
                  <a:lnTo>
                    <a:pt x="1851378" y="730250"/>
                  </a:lnTo>
                  <a:lnTo>
                    <a:pt x="0" y="730250"/>
                  </a:lnTo>
                  <a:close/>
                </a:path>
              </a:pathLst>
            </a:custGeom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1851378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5713660" y="-423595"/>
            <a:ext cx="2583865" cy="2583865"/>
          </a:xfrm>
          <a:custGeom>
            <a:avLst/>
            <a:gdLst/>
            <a:ahLst/>
            <a:cxnLst/>
            <a:rect r="r" b="b" t="t" l="l"/>
            <a:pathLst>
              <a:path h="2583865" w="2583865">
                <a:moveTo>
                  <a:pt x="0" y="0"/>
                </a:moveTo>
                <a:lnTo>
                  <a:pt x="2583865" y="0"/>
                </a:lnTo>
                <a:lnTo>
                  <a:pt x="2583865" y="2583865"/>
                </a:lnTo>
                <a:lnTo>
                  <a:pt x="0" y="25838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4911229" y="9736138"/>
            <a:ext cx="1585812" cy="547688"/>
            <a:chOff x="0" y="0"/>
            <a:chExt cx="2114416" cy="7302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14416" cy="730250"/>
            </a:xfrm>
            <a:custGeom>
              <a:avLst/>
              <a:gdLst/>
              <a:ahLst/>
              <a:cxnLst/>
              <a:rect r="r" b="b" t="t" l="l"/>
              <a:pathLst>
                <a:path h="730250" w="2114416">
                  <a:moveTo>
                    <a:pt x="0" y="0"/>
                  </a:moveTo>
                  <a:lnTo>
                    <a:pt x="2114416" y="0"/>
                  </a:lnTo>
                  <a:lnTo>
                    <a:pt x="2114416" y="730250"/>
                  </a:lnTo>
                  <a:lnTo>
                    <a:pt x="0" y="730250"/>
                  </a:lnTo>
                  <a:close/>
                </a:path>
              </a:pathLst>
            </a:custGeom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2114416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  <a:r>
                <a:rPr lang="en-US" sz="1800">
                  <a:solidFill>
                    <a:srgbClr val="898989"/>
                  </a:solidFill>
                  <a:latin typeface="Arial"/>
                  <a:ea typeface="Arial"/>
                  <a:cs typeface="Arial"/>
                  <a:sym typeface="Arial"/>
                </a:rPr>
                <a:t>.03.2026</a:t>
              </a: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393694" y="2643409"/>
            <a:ext cx="9458357" cy="6266580"/>
          </a:xfrm>
          <a:custGeom>
            <a:avLst/>
            <a:gdLst/>
            <a:ahLst/>
            <a:cxnLst/>
            <a:rect r="r" b="b" t="t" l="l"/>
            <a:pathLst>
              <a:path h="6266580" w="9458357">
                <a:moveTo>
                  <a:pt x="0" y="0"/>
                </a:moveTo>
                <a:lnTo>
                  <a:pt x="9458358" y="0"/>
                </a:lnTo>
                <a:lnTo>
                  <a:pt x="9458358" y="6266580"/>
                </a:lnTo>
                <a:lnTo>
                  <a:pt x="0" y="62665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0021095" y="2886075"/>
            <a:ext cx="7864480" cy="448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</a:p>
          <a:p>
            <a:pPr algn="l">
              <a:lnSpc>
                <a:spcPts val="3960"/>
              </a:lnSpc>
            </a:pPr>
            <a:r>
              <a:rPr lang="en-US" b="true" sz="33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  <a:hlinkClick r:id="rId4" tooltip="https://dictionary.cambridge.org/tr/s%C3%B6zl%C3%BCk/ingilizce-t%C3%BCrk%C3%A7e/this"/>
              </a:rPr>
              <a:t>HUST D</a:t>
            </a:r>
            <a:r>
              <a:rPr lang="en-US" b="true" sz="33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  <a:hlinkClick r:id="rId5" tooltip="https://dictionary.cambridge.org/tr/s%C3%B6zl%C3%BCk/ingilizce-t%C3%BCrk%C3%A7e/this"/>
              </a:rPr>
              <a:t>ataset</a:t>
            </a:r>
          </a:p>
          <a:p>
            <a:pPr algn="l" marL="712470" indent="-356235" lvl="1">
              <a:lnSpc>
                <a:spcPts val="3960"/>
              </a:lnSpc>
              <a:buAutoNum type="arabicPeriod" startAt="1"/>
            </a:pP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6" tooltip="https://dictionary.cambridge.org/tr/s%C3%B6zl%C3%BCk/ingilizce-t%C3%BCrk%C3%A7e/this"/>
              </a:rPr>
              <a:t>I</a:t>
            </a: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7" tooltip="https://dictionary.cambridge.org/tr/s%C3%B6zl%C3%BCk/ingilizce-t%C3%BCrk%C3%A7e/this"/>
              </a:rPr>
              <a:t> </a:t>
            </a: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8" tooltip="https://dictionary.cambridge.org/tr/s%C3%B6zl%C3%BCk/ingilizce-t%C3%BCrk%C3%A7e/this"/>
              </a:rPr>
              <a:t>added HUS</a:t>
            </a: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9" tooltip="https://dictionary.cambridge.org/tr/s%C3%B6zl%C3%BCk/ingilizce-t%C3%BCrk%C3%A7e/this"/>
              </a:rPr>
              <a:t>T</a:t>
            </a: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10" tooltip="https://dictionary.cambridge.org/tr/s%C3%B6zl%C3%BCk/ingilizce-t%C3%BCrk%C3%A7e/this"/>
              </a:rPr>
              <a:t> as</a:t>
            </a: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11" tooltip="https://dictionary.cambridge.org/tr/s%C3%B6zl%C3%BCk/ingilizce-t%C3%BCrk%C3%A7e/this"/>
              </a:rPr>
              <a:t> </a:t>
            </a: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12" tooltip="https://dictionary.cambridge.org/tr/s%C3%B6zl%C3%BCk/ingilizce-t%C3%BCrk%C3%A7e/this"/>
              </a:rPr>
              <a:t>an </a:t>
            </a: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13" tooltip="https://dictionary.cambridge.org/tr/s%C3%B6zl%C3%BCk/ingilizce-t%C3%BCrk%C3%A7e/this"/>
              </a:rPr>
              <a:t>ext</a:t>
            </a: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14" tooltip="https://dictionary.cambridge.org/tr/s%C3%B6zl%C3%BCk/ingilizce-t%C3%BCrk%C3%A7e/this"/>
              </a:rPr>
              <a:t>er</a:t>
            </a: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15" tooltip="https://dictionary.cambridge.org/tr/s%C3%B6zl%C3%BCk/ingilizce-t%C3%BCrk%C3%A7e/this"/>
              </a:rPr>
              <a:t>n</a:t>
            </a: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16" tooltip="https://dictionary.cambridge.org/tr/s%C3%B6zl%C3%BCk/ingilizce-t%C3%BCrk%C3%A7e/this"/>
              </a:rPr>
              <a:t>al</a:t>
            </a: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17" tooltip="https://dictionary.cambridge.org/tr/s%C3%B6zl%C3%BCk/ingilizce-t%C3%BCrk%C3%A7e/this"/>
              </a:rPr>
              <a:t> </a:t>
            </a: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18" tooltip="https://dictionary.cambridge.org/tr/s%C3%B6zl%C3%BCk/ingilizce-t%C3%BCrk%C3%A7e/this"/>
              </a:rPr>
              <a:t>t</a:t>
            </a: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19" tooltip="https://dictionary.cambridge.org/tr/s%C3%B6zl%C3%BCk/ingilizce-t%C3%BCrk%C3%A7e/this"/>
              </a:rPr>
              <a:t>es</a:t>
            </a: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20" tooltip="https://dictionary.cambridge.org/tr/s%C3%B6zl%C3%BCk/ingilizce-t%C3%BCrk%C3%A7e/this"/>
              </a:rPr>
              <a:t>t</a:t>
            </a: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21" tooltip="https://dictionary.cambridge.org/tr/s%C3%B6zl%C3%BCk/ingilizce-t%C3%BCrk%C3%A7e/this"/>
              </a:rPr>
              <a:t> </a:t>
            </a: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22" tooltip="https://dictionary.cambridge.org/tr/s%C3%B6zl%C3%BCk/ingilizce-t%C3%BCrk%C3%A7e/this"/>
              </a:rPr>
              <a:t>dataset</a:t>
            </a:r>
          </a:p>
          <a:p>
            <a:pPr algn="l" marL="712470" indent="-356235" lvl="1">
              <a:lnSpc>
                <a:spcPts val="3960"/>
              </a:lnSpc>
              <a:buAutoNum type="arabicPeriod" startAt="1"/>
            </a:pP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23" tooltip="https://dictionary.cambridge.org/tr/s%C3%B6zl%C3%BCk/ingilizce-t%C3%BCrk%C3%A7e/this"/>
              </a:rPr>
              <a:t>New cross-dataset setting:</a:t>
            </a:r>
          </a:p>
          <a:p>
            <a:pPr algn="l">
              <a:lnSpc>
                <a:spcPts val="3960"/>
              </a:lnSpc>
            </a:pPr>
            <a:r>
              <a:rPr lang="en-US" sz="3300" i="true">
                <a:solidFill>
                  <a:srgbClr val="000000"/>
                </a:solidFill>
                <a:latin typeface="Arial Italics"/>
                <a:ea typeface="Arial Italics"/>
                <a:cs typeface="Arial Italics"/>
                <a:sym typeface="Arial Italics"/>
                <a:hlinkClick r:id="rId24" tooltip="https://dictionary.cambridge.org/tr/s%C3%B6zl%C3%BCk/ingilizce-t%C3%BCrk%C3%A7e/this"/>
              </a:rPr>
              <a:t>Train on MATR</a:t>
            </a:r>
          </a:p>
          <a:p>
            <a:pPr algn="l">
              <a:lnSpc>
                <a:spcPts val="3960"/>
              </a:lnSpc>
            </a:pPr>
            <a:r>
              <a:rPr lang="en-US" sz="3300" i="true">
                <a:solidFill>
                  <a:srgbClr val="000000"/>
                </a:solidFill>
                <a:latin typeface="Arial Italics"/>
                <a:ea typeface="Arial Italics"/>
                <a:cs typeface="Arial Italics"/>
                <a:sym typeface="Arial Italics"/>
                <a:hlinkClick r:id="rId25" tooltip="https://dictionary.cambridge.org/tr/s%C3%B6zl%C3%BCk/ingilizce-t%C3%BCrk%C3%A7e/this"/>
              </a:rPr>
              <a:t>Test on HUST</a:t>
            </a:r>
          </a:p>
          <a:p>
            <a:pPr algn="l" marL="712470" indent="-356235" lvl="1">
              <a:lnSpc>
                <a:spcPts val="3960"/>
              </a:lnSpc>
              <a:buAutoNum type="arabicPeriod" startAt="1"/>
            </a:pP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26" tooltip="https://dictionary.cambridge.org/tr/s%C3%B6zl%C3%BCk/ingilizce-t%C3%BCrk%C3%A7e/this"/>
              </a:rPr>
              <a:t>This gives a more realistic evaluation</a:t>
            </a:r>
          </a:p>
          <a:p>
            <a:pPr algn="l">
              <a:lnSpc>
                <a:spcPts val="3960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93694" y="9877110"/>
            <a:ext cx="2232666" cy="343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00090"/>
                </a:solidFill>
                <a:latin typeface="Arial"/>
                <a:ea typeface="Arial"/>
                <a:cs typeface="Arial"/>
                <a:sym typeface="Arial"/>
              </a:rPr>
              <a:t>www.gtu.edu.tr</a:t>
            </a:r>
          </a:p>
        </p:txBody>
      </p:sp>
      <p:sp>
        <p:nvSpPr>
          <p:cNvPr name="AutoShape 3" id="3"/>
          <p:cNvSpPr/>
          <p:nvPr/>
        </p:nvSpPr>
        <p:spPr>
          <a:xfrm rot="7147">
            <a:off x="-19070" y="1588669"/>
            <a:ext cx="18326140" cy="0"/>
          </a:xfrm>
          <a:prstGeom prst="line">
            <a:avLst/>
          </a:prstGeom>
          <a:ln cap="rnd" w="19050">
            <a:solidFill>
              <a:srgbClr val="1A2A6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7147">
            <a:off x="-19070" y="1677564"/>
            <a:ext cx="18326140" cy="0"/>
          </a:xfrm>
          <a:prstGeom prst="line">
            <a:avLst/>
          </a:prstGeom>
          <a:ln cap="rnd" w="19050">
            <a:solidFill>
              <a:srgbClr val="EE801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7147">
            <a:off x="-19070" y="1779159"/>
            <a:ext cx="18326140" cy="0"/>
          </a:xfrm>
          <a:prstGeom prst="line">
            <a:avLst/>
          </a:prstGeom>
          <a:ln cap="rnd" w="19050">
            <a:solidFill>
              <a:srgbClr val="C1203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429255" y="419101"/>
            <a:ext cx="14632946" cy="1230864"/>
            <a:chOff x="0" y="0"/>
            <a:chExt cx="19510594" cy="16411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510594" cy="1641153"/>
            </a:xfrm>
            <a:custGeom>
              <a:avLst/>
              <a:gdLst/>
              <a:ahLst/>
              <a:cxnLst/>
              <a:rect r="r" b="b" t="t" l="l"/>
              <a:pathLst>
                <a:path h="1641153" w="19510594">
                  <a:moveTo>
                    <a:pt x="0" y="0"/>
                  </a:moveTo>
                  <a:lnTo>
                    <a:pt x="19510594" y="0"/>
                  </a:lnTo>
                  <a:lnTo>
                    <a:pt x="19510594" y="1641153"/>
                  </a:lnTo>
                  <a:lnTo>
                    <a:pt x="0" y="1641153"/>
                  </a:lnTo>
                  <a:close/>
                </a:path>
              </a:pathLst>
            </a:custGeom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9510594" cy="16792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128"/>
                </a:lnSpc>
              </a:pPr>
              <a:r>
                <a:rPr lang="en-US" sz="5940" b="true">
                  <a:solidFill>
                    <a:srgbClr val="1A357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Labeling Update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514600" y="9736138"/>
            <a:ext cx="11988799" cy="547688"/>
            <a:chOff x="0" y="0"/>
            <a:chExt cx="15985066" cy="73025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5985066" cy="730250"/>
            </a:xfrm>
            <a:custGeom>
              <a:avLst/>
              <a:gdLst/>
              <a:ahLst/>
              <a:cxnLst/>
              <a:rect r="r" b="b" t="t" l="l"/>
              <a:pathLst>
                <a:path h="730250" w="15985066">
                  <a:moveTo>
                    <a:pt x="0" y="0"/>
                  </a:moveTo>
                  <a:lnTo>
                    <a:pt x="15985066" y="0"/>
                  </a:lnTo>
                  <a:lnTo>
                    <a:pt x="15985066" y="730250"/>
                  </a:lnTo>
                  <a:lnTo>
                    <a:pt x="0" y="730250"/>
                  </a:lnTo>
                  <a:close/>
                </a:path>
              </a:pathLst>
            </a:custGeom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15985066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Arial"/>
                  <a:ea typeface="Arial"/>
                  <a:cs typeface="Arial"/>
                  <a:sym typeface="Arial"/>
                </a:rPr>
                <a:t>CSE496 – First Presentation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6497042" y="9736138"/>
            <a:ext cx="1388533" cy="547688"/>
            <a:chOff x="0" y="0"/>
            <a:chExt cx="1851378" cy="7302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851378" cy="730250"/>
            </a:xfrm>
            <a:custGeom>
              <a:avLst/>
              <a:gdLst/>
              <a:ahLst/>
              <a:cxnLst/>
              <a:rect r="r" b="b" t="t" l="l"/>
              <a:pathLst>
                <a:path h="730250" w="1851378">
                  <a:moveTo>
                    <a:pt x="0" y="0"/>
                  </a:moveTo>
                  <a:lnTo>
                    <a:pt x="1851378" y="0"/>
                  </a:lnTo>
                  <a:lnTo>
                    <a:pt x="1851378" y="730250"/>
                  </a:lnTo>
                  <a:lnTo>
                    <a:pt x="0" y="730250"/>
                  </a:lnTo>
                  <a:close/>
                </a:path>
              </a:pathLst>
            </a:custGeom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1851378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5713660" y="-423595"/>
            <a:ext cx="2583865" cy="2583865"/>
          </a:xfrm>
          <a:custGeom>
            <a:avLst/>
            <a:gdLst/>
            <a:ahLst/>
            <a:cxnLst/>
            <a:rect r="r" b="b" t="t" l="l"/>
            <a:pathLst>
              <a:path h="2583865" w="2583865">
                <a:moveTo>
                  <a:pt x="0" y="0"/>
                </a:moveTo>
                <a:lnTo>
                  <a:pt x="2583865" y="0"/>
                </a:lnTo>
                <a:lnTo>
                  <a:pt x="2583865" y="2583865"/>
                </a:lnTo>
                <a:lnTo>
                  <a:pt x="0" y="25838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4911229" y="9736138"/>
            <a:ext cx="1585812" cy="547688"/>
            <a:chOff x="0" y="0"/>
            <a:chExt cx="2114416" cy="7302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14416" cy="730250"/>
            </a:xfrm>
            <a:custGeom>
              <a:avLst/>
              <a:gdLst/>
              <a:ahLst/>
              <a:cxnLst/>
              <a:rect r="r" b="b" t="t" l="l"/>
              <a:pathLst>
                <a:path h="730250" w="2114416">
                  <a:moveTo>
                    <a:pt x="0" y="0"/>
                  </a:moveTo>
                  <a:lnTo>
                    <a:pt x="2114416" y="0"/>
                  </a:lnTo>
                  <a:lnTo>
                    <a:pt x="2114416" y="730250"/>
                  </a:lnTo>
                  <a:lnTo>
                    <a:pt x="0" y="730250"/>
                  </a:lnTo>
                  <a:close/>
                </a:path>
              </a:pathLst>
            </a:custGeom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2114416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  <a:r>
                <a:rPr lang="en-US" sz="1800">
                  <a:solidFill>
                    <a:srgbClr val="898989"/>
                  </a:solidFill>
                  <a:latin typeface="Arial"/>
                  <a:ea typeface="Arial"/>
                  <a:cs typeface="Arial"/>
                  <a:sym typeface="Arial"/>
                </a:rPr>
                <a:t>.03.2026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429255" y="2638425"/>
            <a:ext cx="7864480" cy="448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0"/>
              </a:lnSpc>
            </a:pPr>
            <a:r>
              <a:rPr lang="en-US" sz="33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EOL</a:t>
            </a:r>
            <a:r>
              <a:rPr lang="en-US" sz="33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D</a:t>
            </a:r>
            <a:r>
              <a:rPr lang="en-US" sz="33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efinition</a:t>
            </a:r>
            <a:r>
              <a:rPr lang="en-US" b="true" sz="33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33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and Ce</a:t>
            </a:r>
            <a:r>
              <a:rPr lang="en-US" b="true" sz="33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nsoring</a:t>
            </a:r>
          </a:p>
          <a:p>
            <a:pPr algn="ctr">
              <a:lnSpc>
                <a:spcPts val="3960"/>
              </a:lnSpc>
            </a:pPr>
          </a:p>
          <a:p>
            <a:pPr algn="ctr">
              <a:lnSpc>
                <a:spcPts val="3960"/>
              </a:lnSpc>
            </a:pP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 buil</a:t>
            </a: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t: </a:t>
            </a:r>
            <a:r>
              <a:rPr lang="en-US" sz="3300" i="true">
                <a:solidFill>
                  <a:srgbClr val="000000"/>
                </a:solidFill>
                <a:latin typeface="Arial Italics"/>
                <a:ea typeface="Arial Italics"/>
                <a:cs typeface="Arial Italics"/>
                <a:sym typeface="Arial Italics"/>
              </a:rPr>
              <a:t>Q0 calculation, EOL labeling, censoring flags</a:t>
            </a:r>
          </a:p>
          <a:p>
            <a:pPr algn="ctr">
              <a:lnSpc>
                <a:spcPts val="3960"/>
              </a:lnSpc>
            </a:pPr>
          </a:p>
          <a:p>
            <a:pPr algn="ctr">
              <a:lnSpc>
                <a:spcPts val="3960"/>
              </a:lnSpc>
            </a:pP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Fir</a:t>
            </a: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</a:t>
            </a: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I used 80%</a:t>
            </a: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</a:t>
            </a: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Q0, Then I changed EOL to 85% of Q0</a:t>
            </a:r>
          </a:p>
          <a:p>
            <a:pPr algn="l">
              <a:lnSpc>
                <a:spcPts val="3960"/>
              </a:lnSpc>
            </a:pPr>
          </a:p>
          <a:p>
            <a:pPr algn="l">
              <a:lnSpc>
                <a:spcPts val="3960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9394820" y="2638425"/>
            <a:ext cx="7864480" cy="3495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0"/>
              </a:lnSpc>
            </a:pPr>
            <a:r>
              <a:rPr lang="en-US" b="true" sz="33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Why 85% EOL?</a:t>
            </a:r>
          </a:p>
          <a:p>
            <a:pPr algn="l">
              <a:lnSpc>
                <a:spcPts val="3960"/>
              </a:lnSpc>
            </a:pPr>
          </a:p>
          <a:p>
            <a:pPr algn="ctr">
              <a:lnSpc>
                <a:spcPts val="3960"/>
              </a:lnSpc>
            </a:pP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 8</a:t>
            </a: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%,</a:t>
            </a: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</a:t>
            </a: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MATR</a:t>
            </a: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</a:t>
            </a: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ls were ce</a:t>
            </a: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sored</a:t>
            </a:r>
          </a:p>
          <a:p>
            <a:pPr algn="ctr">
              <a:lnSpc>
                <a:spcPts val="3960"/>
              </a:lnSpc>
            </a:pP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 85%</a:t>
            </a: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censoring </a:t>
            </a: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bec</a:t>
            </a: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 much lower</a:t>
            </a:r>
          </a:p>
          <a:p>
            <a:pPr algn="ctr">
              <a:lnSpc>
                <a:spcPts val="3960"/>
              </a:lnSpc>
            </a:pP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</a:t>
            </a: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made</a:t>
            </a: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</a:t>
            </a: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 target definition more usable</a:t>
            </a:r>
          </a:p>
          <a:p>
            <a:pPr algn="ctr">
              <a:lnSpc>
                <a:spcPts val="3960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93694" y="9877110"/>
            <a:ext cx="2232666" cy="343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00090"/>
                </a:solidFill>
                <a:latin typeface="Arial"/>
                <a:ea typeface="Arial"/>
                <a:cs typeface="Arial"/>
                <a:sym typeface="Arial"/>
              </a:rPr>
              <a:t>www.gtu.edu.tr</a:t>
            </a:r>
          </a:p>
        </p:txBody>
      </p:sp>
      <p:sp>
        <p:nvSpPr>
          <p:cNvPr name="AutoShape 3" id="3"/>
          <p:cNvSpPr/>
          <p:nvPr/>
        </p:nvSpPr>
        <p:spPr>
          <a:xfrm rot="7147">
            <a:off x="-19070" y="1588669"/>
            <a:ext cx="18326140" cy="0"/>
          </a:xfrm>
          <a:prstGeom prst="line">
            <a:avLst/>
          </a:prstGeom>
          <a:ln cap="rnd" w="19050">
            <a:solidFill>
              <a:srgbClr val="1A2A6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7147">
            <a:off x="-19070" y="1677564"/>
            <a:ext cx="18326140" cy="0"/>
          </a:xfrm>
          <a:prstGeom prst="line">
            <a:avLst/>
          </a:prstGeom>
          <a:ln cap="rnd" w="19050">
            <a:solidFill>
              <a:srgbClr val="EE801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7147">
            <a:off x="-19070" y="1779159"/>
            <a:ext cx="18326140" cy="0"/>
          </a:xfrm>
          <a:prstGeom prst="line">
            <a:avLst/>
          </a:prstGeom>
          <a:ln cap="rnd" w="19050">
            <a:solidFill>
              <a:srgbClr val="C1203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429255" y="419101"/>
            <a:ext cx="14632946" cy="1230864"/>
            <a:chOff x="0" y="0"/>
            <a:chExt cx="19510594" cy="16411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510594" cy="1641153"/>
            </a:xfrm>
            <a:custGeom>
              <a:avLst/>
              <a:gdLst/>
              <a:ahLst/>
              <a:cxnLst/>
              <a:rect r="r" b="b" t="t" l="l"/>
              <a:pathLst>
                <a:path h="1641153" w="19510594">
                  <a:moveTo>
                    <a:pt x="0" y="0"/>
                  </a:moveTo>
                  <a:lnTo>
                    <a:pt x="19510594" y="0"/>
                  </a:lnTo>
                  <a:lnTo>
                    <a:pt x="19510594" y="1641153"/>
                  </a:lnTo>
                  <a:lnTo>
                    <a:pt x="0" y="1641153"/>
                  </a:lnTo>
                  <a:close/>
                </a:path>
              </a:pathLst>
            </a:custGeom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9510594" cy="16792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128"/>
                </a:lnSpc>
              </a:pPr>
              <a:r>
                <a:rPr lang="en-US" sz="5940" b="true">
                  <a:solidFill>
                    <a:srgbClr val="1A357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Feature Engineering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514600" y="9736138"/>
            <a:ext cx="11988799" cy="547688"/>
            <a:chOff x="0" y="0"/>
            <a:chExt cx="15985066" cy="73025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5985066" cy="730250"/>
            </a:xfrm>
            <a:custGeom>
              <a:avLst/>
              <a:gdLst/>
              <a:ahLst/>
              <a:cxnLst/>
              <a:rect r="r" b="b" t="t" l="l"/>
              <a:pathLst>
                <a:path h="730250" w="15985066">
                  <a:moveTo>
                    <a:pt x="0" y="0"/>
                  </a:moveTo>
                  <a:lnTo>
                    <a:pt x="15985066" y="0"/>
                  </a:lnTo>
                  <a:lnTo>
                    <a:pt x="15985066" y="730250"/>
                  </a:lnTo>
                  <a:lnTo>
                    <a:pt x="0" y="730250"/>
                  </a:lnTo>
                  <a:close/>
                </a:path>
              </a:pathLst>
            </a:custGeom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15985066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Arial"/>
                  <a:ea typeface="Arial"/>
                  <a:cs typeface="Arial"/>
                  <a:sym typeface="Arial"/>
                </a:rPr>
                <a:t>CSE496 – First Presentation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6497042" y="9736138"/>
            <a:ext cx="1388533" cy="547688"/>
            <a:chOff x="0" y="0"/>
            <a:chExt cx="1851378" cy="7302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851378" cy="730250"/>
            </a:xfrm>
            <a:custGeom>
              <a:avLst/>
              <a:gdLst/>
              <a:ahLst/>
              <a:cxnLst/>
              <a:rect r="r" b="b" t="t" l="l"/>
              <a:pathLst>
                <a:path h="730250" w="1851378">
                  <a:moveTo>
                    <a:pt x="0" y="0"/>
                  </a:moveTo>
                  <a:lnTo>
                    <a:pt x="1851378" y="0"/>
                  </a:lnTo>
                  <a:lnTo>
                    <a:pt x="1851378" y="730250"/>
                  </a:lnTo>
                  <a:lnTo>
                    <a:pt x="0" y="730250"/>
                  </a:lnTo>
                  <a:close/>
                </a:path>
              </a:pathLst>
            </a:custGeom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1851378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5713660" y="-423595"/>
            <a:ext cx="2583865" cy="2583865"/>
          </a:xfrm>
          <a:custGeom>
            <a:avLst/>
            <a:gdLst/>
            <a:ahLst/>
            <a:cxnLst/>
            <a:rect r="r" b="b" t="t" l="l"/>
            <a:pathLst>
              <a:path h="2583865" w="2583865">
                <a:moveTo>
                  <a:pt x="0" y="0"/>
                </a:moveTo>
                <a:lnTo>
                  <a:pt x="2583865" y="0"/>
                </a:lnTo>
                <a:lnTo>
                  <a:pt x="2583865" y="2583865"/>
                </a:lnTo>
                <a:lnTo>
                  <a:pt x="0" y="25838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4911229" y="9736138"/>
            <a:ext cx="1585812" cy="547688"/>
            <a:chOff x="0" y="0"/>
            <a:chExt cx="2114416" cy="7302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14416" cy="730250"/>
            </a:xfrm>
            <a:custGeom>
              <a:avLst/>
              <a:gdLst/>
              <a:ahLst/>
              <a:cxnLst/>
              <a:rect r="r" b="b" t="t" l="l"/>
              <a:pathLst>
                <a:path h="730250" w="2114416">
                  <a:moveTo>
                    <a:pt x="0" y="0"/>
                  </a:moveTo>
                  <a:lnTo>
                    <a:pt x="2114416" y="0"/>
                  </a:lnTo>
                  <a:lnTo>
                    <a:pt x="2114416" y="730250"/>
                  </a:lnTo>
                  <a:lnTo>
                    <a:pt x="0" y="730250"/>
                  </a:lnTo>
                  <a:close/>
                </a:path>
              </a:pathLst>
            </a:custGeom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2114416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  <a:r>
                <a:rPr lang="en-US" sz="1800">
                  <a:solidFill>
                    <a:srgbClr val="898989"/>
                  </a:solidFill>
                  <a:latin typeface="Arial"/>
                  <a:ea typeface="Arial"/>
                  <a:cs typeface="Arial"/>
                  <a:sym typeface="Arial"/>
                </a:rPr>
                <a:t>.03.2026</a:t>
              </a: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8353024" y="1864884"/>
            <a:ext cx="9301927" cy="7532634"/>
          </a:xfrm>
          <a:custGeom>
            <a:avLst/>
            <a:gdLst/>
            <a:ahLst/>
            <a:cxnLst/>
            <a:rect r="r" b="b" t="t" l="l"/>
            <a:pathLst>
              <a:path h="7532634" w="9301927">
                <a:moveTo>
                  <a:pt x="0" y="0"/>
                </a:moveTo>
                <a:lnTo>
                  <a:pt x="9301927" y="0"/>
                </a:lnTo>
                <a:lnTo>
                  <a:pt x="9301927" y="7532634"/>
                </a:lnTo>
                <a:lnTo>
                  <a:pt x="0" y="75326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429255" y="3629025"/>
            <a:ext cx="7864480" cy="3000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0"/>
              </a:lnSpc>
            </a:pP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created</a:t>
            </a: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SOP-style featu</a:t>
            </a: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 pipeline</a:t>
            </a:r>
          </a:p>
          <a:p>
            <a:pPr algn="ctr">
              <a:lnSpc>
                <a:spcPts val="3960"/>
              </a:lnSpc>
            </a:pP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 MATR, I buil</a:t>
            </a: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 a</a:t>
            </a: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12-fe</a:t>
            </a: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 </a:t>
            </a: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table</a:t>
            </a:r>
          </a:p>
          <a:p>
            <a:pPr algn="ctr">
              <a:lnSpc>
                <a:spcPts val="3960"/>
              </a:lnSpc>
            </a:pP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</a:t>
            </a: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HUST,</a:t>
            </a: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</a:t>
            </a: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 SOP12 w</a:t>
            </a: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</a:t>
            </a: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no</a:t>
            </a: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possible</a:t>
            </a:r>
          </a:p>
          <a:p>
            <a:pPr algn="ctr">
              <a:lnSpc>
                <a:spcPts val="3960"/>
              </a:lnSpc>
            </a:pP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HUST does not</a:t>
            </a: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contai</a:t>
            </a: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 IR and temperature</a:t>
            </a:r>
          </a:p>
          <a:p>
            <a:pPr algn="l">
              <a:lnSpc>
                <a:spcPts val="3960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93694" y="9877110"/>
            <a:ext cx="2232666" cy="343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00090"/>
                </a:solidFill>
                <a:latin typeface="Arial"/>
                <a:ea typeface="Arial"/>
                <a:cs typeface="Arial"/>
                <a:sym typeface="Arial"/>
              </a:rPr>
              <a:t>www.gtu.edu.tr</a:t>
            </a:r>
          </a:p>
        </p:txBody>
      </p:sp>
      <p:sp>
        <p:nvSpPr>
          <p:cNvPr name="AutoShape 3" id="3"/>
          <p:cNvSpPr/>
          <p:nvPr/>
        </p:nvSpPr>
        <p:spPr>
          <a:xfrm rot="7147">
            <a:off x="-19070" y="1588669"/>
            <a:ext cx="18326140" cy="0"/>
          </a:xfrm>
          <a:prstGeom prst="line">
            <a:avLst/>
          </a:prstGeom>
          <a:ln cap="rnd" w="19050">
            <a:solidFill>
              <a:srgbClr val="1A2A6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7147">
            <a:off x="-19070" y="1677564"/>
            <a:ext cx="18326140" cy="0"/>
          </a:xfrm>
          <a:prstGeom prst="line">
            <a:avLst/>
          </a:prstGeom>
          <a:ln cap="rnd" w="19050">
            <a:solidFill>
              <a:srgbClr val="EE801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7147">
            <a:off x="-19070" y="1779159"/>
            <a:ext cx="18326140" cy="0"/>
          </a:xfrm>
          <a:prstGeom prst="line">
            <a:avLst/>
          </a:prstGeom>
          <a:ln cap="rnd" w="19050">
            <a:solidFill>
              <a:srgbClr val="C1203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429255" y="419101"/>
            <a:ext cx="14632946" cy="1230864"/>
            <a:chOff x="0" y="0"/>
            <a:chExt cx="19510594" cy="16411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510594" cy="1641153"/>
            </a:xfrm>
            <a:custGeom>
              <a:avLst/>
              <a:gdLst/>
              <a:ahLst/>
              <a:cxnLst/>
              <a:rect r="r" b="b" t="t" l="l"/>
              <a:pathLst>
                <a:path h="1641153" w="19510594">
                  <a:moveTo>
                    <a:pt x="0" y="0"/>
                  </a:moveTo>
                  <a:lnTo>
                    <a:pt x="19510594" y="0"/>
                  </a:lnTo>
                  <a:lnTo>
                    <a:pt x="19510594" y="1641153"/>
                  </a:lnTo>
                  <a:lnTo>
                    <a:pt x="0" y="1641153"/>
                  </a:lnTo>
                  <a:close/>
                </a:path>
              </a:pathLst>
            </a:custGeom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9510594" cy="16792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128"/>
                </a:lnSpc>
              </a:pPr>
              <a:r>
                <a:rPr lang="en-US" sz="5940" b="true">
                  <a:solidFill>
                    <a:srgbClr val="1A357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Main Results and Next Steps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514600" y="9736138"/>
            <a:ext cx="11988799" cy="547688"/>
            <a:chOff x="0" y="0"/>
            <a:chExt cx="15985066" cy="73025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5985066" cy="730250"/>
            </a:xfrm>
            <a:custGeom>
              <a:avLst/>
              <a:gdLst/>
              <a:ahLst/>
              <a:cxnLst/>
              <a:rect r="r" b="b" t="t" l="l"/>
              <a:pathLst>
                <a:path h="730250" w="15985066">
                  <a:moveTo>
                    <a:pt x="0" y="0"/>
                  </a:moveTo>
                  <a:lnTo>
                    <a:pt x="15985066" y="0"/>
                  </a:lnTo>
                  <a:lnTo>
                    <a:pt x="15985066" y="730250"/>
                  </a:lnTo>
                  <a:lnTo>
                    <a:pt x="0" y="730250"/>
                  </a:lnTo>
                  <a:close/>
                </a:path>
              </a:pathLst>
            </a:custGeom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15985066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Arial"/>
                  <a:ea typeface="Arial"/>
                  <a:cs typeface="Arial"/>
                  <a:sym typeface="Arial"/>
                </a:rPr>
                <a:t>CSE496 – First Presentation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6497042" y="9736138"/>
            <a:ext cx="1388533" cy="547688"/>
            <a:chOff x="0" y="0"/>
            <a:chExt cx="1851378" cy="7302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851378" cy="730250"/>
            </a:xfrm>
            <a:custGeom>
              <a:avLst/>
              <a:gdLst/>
              <a:ahLst/>
              <a:cxnLst/>
              <a:rect r="r" b="b" t="t" l="l"/>
              <a:pathLst>
                <a:path h="730250" w="1851378">
                  <a:moveTo>
                    <a:pt x="0" y="0"/>
                  </a:moveTo>
                  <a:lnTo>
                    <a:pt x="1851378" y="0"/>
                  </a:lnTo>
                  <a:lnTo>
                    <a:pt x="1851378" y="730250"/>
                  </a:lnTo>
                  <a:lnTo>
                    <a:pt x="0" y="730250"/>
                  </a:lnTo>
                  <a:close/>
                </a:path>
              </a:pathLst>
            </a:custGeom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1851378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5713660" y="-423595"/>
            <a:ext cx="2583865" cy="2583865"/>
          </a:xfrm>
          <a:custGeom>
            <a:avLst/>
            <a:gdLst/>
            <a:ahLst/>
            <a:cxnLst/>
            <a:rect r="r" b="b" t="t" l="l"/>
            <a:pathLst>
              <a:path h="2583865" w="2583865">
                <a:moveTo>
                  <a:pt x="0" y="0"/>
                </a:moveTo>
                <a:lnTo>
                  <a:pt x="2583865" y="0"/>
                </a:lnTo>
                <a:lnTo>
                  <a:pt x="2583865" y="2583865"/>
                </a:lnTo>
                <a:lnTo>
                  <a:pt x="0" y="25838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4911229" y="9736138"/>
            <a:ext cx="1585812" cy="547688"/>
            <a:chOff x="0" y="0"/>
            <a:chExt cx="2114416" cy="7302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14416" cy="730250"/>
            </a:xfrm>
            <a:custGeom>
              <a:avLst/>
              <a:gdLst/>
              <a:ahLst/>
              <a:cxnLst/>
              <a:rect r="r" b="b" t="t" l="l"/>
              <a:pathLst>
                <a:path h="730250" w="2114416">
                  <a:moveTo>
                    <a:pt x="0" y="0"/>
                  </a:moveTo>
                  <a:lnTo>
                    <a:pt x="2114416" y="0"/>
                  </a:lnTo>
                  <a:lnTo>
                    <a:pt x="2114416" y="730250"/>
                  </a:lnTo>
                  <a:lnTo>
                    <a:pt x="0" y="730250"/>
                  </a:lnTo>
                  <a:close/>
                </a:path>
              </a:pathLst>
            </a:custGeom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2114416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  <a:r>
                <a:rPr lang="en-US" sz="1800">
                  <a:solidFill>
                    <a:srgbClr val="898989"/>
                  </a:solidFill>
                  <a:latin typeface="Arial"/>
                  <a:ea typeface="Arial"/>
                  <a:cs typeface="Arial"/>
                  <a:sym typeface="Arial"/>
                </a:rPr>
                <a:t>.03.2026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429255" y="2990769"/>
            <a:ext cx="7864480" cy="5476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0"/>
              </a:lnSpc>
            </a:pPr>
            <a:r>
              <a:rPr lang="en-US" sz="33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Cur</a:t>
            </a:r>
            <a:r>
              <a:rPr lang="en-US" sz="33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rent Findings</a:t>
            </a:r>
          </a:p>
          <a:p>
            <a:pPr algn="ctr">
              <a:lnSpc>
                <a:spcPts val="3960"/>
              </a:lnSpc>
            </a:pPr>
          </a:p>
          <a:p>
            <a:pPr algn="ctr">
              <a:lnSpc>
                <a:spcPts val="3960"/>
              </a:lnSpc>
            </a:pP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Within-dataset results a</a:t>
            </a: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 better</a:t>
            </a:r>
          </a:p>
          <a:p>
            <a:pPr algn="ctr">
              <a:lnSpc>
                <a:spcPts val="3960"/>
              </a:lnSpc>
            </a:pP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MATR </a:t>
            </a: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HUST</a:t>
            </a: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</a:t>
            </a: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erformance is much </a:t>
            </a: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lower</a:t>
            </a:r>
          </a:p>
          <a:p>
            <a:pPr algn="ctr">
              <a:lnSpc>
                <a:spcPts val="3960"/>
              </a:lnSpc>
            </a:pP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</a:t>
            </a: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oss-dataset prediction</a:t>
            </a: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is</a:t>
            </a: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diffic</a:t>
            </a: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lt</a:t>
            </a:r>
          </a:p>
          <a:p>
            <a:pPr algn="ctr">
              <a:lnSpc>
                <a:spcPts val="3960"/>
              </a:lnSpc>
            </a:pPr>
          </a:p>
          <a:p>
            <a:pPr algn="ctr">
              <a:lnSpc>
                <a:spcPts val="3960"/>
              </a:lnSpc>
            </a:pPr>
            <a:r>
              <a:rPr lang="en-US" b="true" sz="33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Possible reasons:</a:t>
            </a:r>
          </a:p>
          <a:p>
            <a:pPr algn="ctr">
              <a:lnSpc>
                <a:spcPts val="3960"/>
              </a:lnSpc>
            </a:pPr>
            <a:r>
              <a:rPr lang="en-US" sz="3300" i="true">
                <a:solidFill>
                  <a:srgbClr val="000000"/>
                </a:solidFill>
                <a:latin typeface="Arial Italics"/>
                <a:ea typeface="Arial Italics"/>
                <a:cs typeface="Arial Italics"/>
                <a:sym typeface="Arial Italics"/>
              </a:rPr>
              <a:t>feature mismatch</a:t>
            </a:r>
          </a:p>
          <a:p>
            <a:pPr algn="ctr">
              <a:lnSpc>
                <a:spcPts val="3960"/>
              </a:lnSpc>
            </a:pPr>
            <a:r>
              <a:rPr lang="en-US" sz="3300" i="true">
                <a:solidFill>
                  <a:srgbClr val="000000"/>
                </a:solidFill>
                <a:latin typeface="Arial Italics"/>
                <a:ea typeface="Arial Italics"/>
                <a:cs typeface="Arial Italics"/>
                <a:sym typeface="Arial Italics"/>
              </a:rPr>
              <a:t>dataset differences</a:t>
            </a:r>
          </a:p>
          <a:p>
            <a:pPr algn="l">
              <a:lnSpc>
                <a:spcPts val="3960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9394820" y="2743119"/>
            <a:ext cx="7864480" cy="5476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0"/>
              </a:lnSpc>
            </a:pPr>
            <a:r>
              <a:rPr lang="en-US" b="true" sz="33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Conclusion</a:t>
            </a:r>
          </a:p>
          <a:p>
            <a:pPr algn="ctr">
              <a:lnSpc>
                <a:spcPts val="3960"/>
              </a:lnSpc>
            </a:pP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 cor</a:t>
            </a: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rected the MATR dataset setup</a:t>
            </a:r>
          </a:p>
          <a:p>
            <a:pPr algn="ctr">
              <a:lnSpc>
                <a:spcPts val="3960"/>
              </a:lnSpc>
            </a:pP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 added HUST fo</a:t>
            </a: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 external testing</a:t>
            </a:r>
          </a:p>
          <a:p>
            <a:pPr algn="ctr">
              <a:lnSpc>
                <a:spcPts val="3960"/>
              </a:lnSpc>
            </a:pP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 updated EOL from 80% </a:t>
            </a: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85%</a:t>
            </a:r>
          </a:p>
          <a:p>
            <a:pPr algn="ctr">
              <a:lnSpc>
                <a:spcPts val="3960"/>
              </a:lnSpc>
            </a:pP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compl</a:t>
            </a: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eted within-dataset and cr</a:t>
            </a: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oss-dataset experiment</a:t>
            </a: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</a:p>
          <a:p>
            <a:pPr algn="ctr">
              <a:lnSpc>
                <a:spcPts val="3960"/>
              </a:lnSpc>
            </a:pPr>
          </a:p>
          <a:p>
            <a:pPr algn="ctr">
              <a:lnSpc>
                <a:spcPts val="3960"/>
              </a:lnSpc>
            </a:pPr>
            <a:r>
              <a:rPr lang="en-US" b="true" sz="33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Next</a:t>
            </a:r>
            <a:r>
              <a:rPr lang="en-US" b="true" sz="33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Step</a:t>
            </a:r>
          </a:p>
          <a:p>
            <a:pPr algn="ctr">
              <a:lnSpc>
                <a:spcPts val="3960"/>
              </a:lnSpc>
            </a:pP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inalize report</a:t>
            </a: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tables and presentation figures</a:t>
            </a:r>
          </a:p>
          <a:p>
            <a:pPr algn="l">
              <a:lnSpc>
                <a:spcPts val="3960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93694" y="9877110"/>
            <a:ext cx="2232666" cy="343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00090"/>
                </a:solidFill>
                <a:latin typeface="Arial"/>
                <a:ea typeface="Arial"/>
                <a:cs typeface="Arial"/>
                <a:sym typeface="Arial"/>
              </a:rPr>
              <a:t>www.gtu.edu.tr</a:t>
            </a:r>
          </a:p>
        </p:txBody>
      </p:sp>
      <p:sp>
        <p:nvSpPr>
          <p:cNvPr name="AutoShape 3" id="3"/>
          <p:cNvSpPr/>
          <p:nvPr/>
        </p:nvSpPr>
        <p:spPr>
          <a:xfrm rot="7147">
            <a:off x="-19070" y="1588669"/>
            <a:ext cx="18326140" cy="0"/>
          </a:xfrm>
          <a:prstGeom prst="line">
            <a:avLst/>
          </a:prstGeom>
          <a:ln cap="rnd" w="19050">
            <a:solidFill>
              <a:srgbClr val="1A2A6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7147">
            <a:off x="-19070" y="1677564"/>
            <a:ext cx="18326140" cy="0"/>
          </a:xfrm>
          <a:prstGeom prst="line">
            <a:avLst/>
          </a:prstGeom>
          <a:ln cap="rnd" w="19050">
            <a:solidFill>
              <a:srgbClr val="EE801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7147">
            <a:off x="-19070" y="1779159"/>
            <a:ext cx="18326140" cy="0"/>
          </a:xfrm>
          <a:prstGeom prst="line">
            <a:avLst/>
          </a:prstGeom>
          <a:ln cap="rnd" w="19050">
            <a:solidFill>
              <a:srgbClr val="C1203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429255" y="419101"/>
            <a:ext cx="14632946" cy="1230864"/>
            <a:chOff x="0" y="0"/>
            <a:chExt cx="19510594" cy="16411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510594" cy="1641153"/>
            </a:xfrm>
            <a:custGeom>
              <a:avLst/>
              <a:gdLst/>
              <a:ahLst/>
              <a:cxnLst/>
              <a:rect r="r" b="b" t="t" l="l"/>
              <a:pathLst>
                <a:path h="1641153" w="19510594">
                  <a:moveTo>
                    <a:pt x="0" y="0"/>
                  </a:moveTo>
                  <a:lnTo>
                    <a:pt x="19510594" y="0"/>
                  </a:lnTo>
                  <a:lnTo>
                    <a:pt x="19510594" y="1641153"/>
                  </a:lnTo>
                  <a:lnTo>
                    <a:pt x="0" y="1641153"/>
                  </a:lnTo>
                  <a:close/>
                </a:path>
              </a:pathLst>
            </a:custGeom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9510594" cy="16792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128"/>
                </a:lnSpc>
              </a:pPr>
              <a:r>
                <a:rPr lang="en-US" b="true" sz="5940">
                  <a:solidFill>
                    <a:srgbClr val="1A357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References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507280" y="3134327"/>
            <a:ext cx="17273441" cy="5972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96798" indent="-298399" lvl="1">
              <a:lnSpc>
                <a:spcPts val="3960"/>
              </a:lnSpc>
              <a:buAutoNum type="arabicPeriod" startAt="1"/>
            </a:pP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Hu, X., Che, Y., Lin, X., &amp; Onori, S. (2020). B</a:t>
            </a: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attery health prediction using fusion-based feature selection and machine learning. </a:t>
            </a: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IEEE </a:t>
            </a: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</a:t>
            </a: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sacti</a:t>
            </a: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</a:t>
            </a: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</a:t>
            </a: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</a:t>
            </a: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</a:t>
            </a: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spo</a:t>
            </a: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ion </a:t>
            </a: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Elect</a:t>
            </a: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ri</a:t>
            </a: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ficat</a:t>
            </a: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io</a:t>
            </a: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n.</a:t>
            </a:r>
          </a:p>
          <a:p>
            <a:pPr algn="l" marL="596798" indent="-298399" lvl="1">
              <a:lnSpc>
                <a:spcPts val="3960"/>
              </a:lnSpc>
              <a:buAutoNum type="arabicPeriod" startAt="1"/>
            </a:pP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NASA Open Data Portal. (2022). </a:t>
            </a: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Li-ion </a:t>
            </a: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attery </a:t>
            </a: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ging </a:t>
            </a: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atasets</a:t>
            </a: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Retrieved</a:t>
            </a: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from data.nasa.gov</a:t>
            </a:r>
          </a:p>
          <a:p>
            <a:pPr algn="l" marL="596798" indent="-298399" lvl="1">
              <a:lnSpc>
                <a:spcPts val="3960"/>
              </a:lnSpc>
              <a:buAutoNum type="arabicPeriod" startAt="1"/>
            </a:pPr>
            <a:r>
              <a:rPr lang="en-US" sz="3300" i="true">
                <a:solidFill>
                  <a:srgbClr val="000000"/>
                </a:solidFill>
                <a:latin typeface="Arial Italics"/>
                <a:ea typeface="Arial Italics"/>
                <a:cs typeface="Arial Italics"/>
                <a:sym typeface="Arial Italics"/>
              </a:rPr>
              <a:t> </a:t>
            </a: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Zhu, J., et al. (</a:t>
            </a: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2022</a:t>
            </a: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). </a:t>
            </a: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Data-driven capacity estimation of commercial lithium-ion batteries from voltage relaxation. Nature Communications.</a:t>
            </a:r>
          </a:p>
          <a:p>
            <a:pPr algn="l" marL="596798" indent="-298399" lvl="1">
              <a:lnSpc>
                <a:spcPts val="3960"/>
              </a:lnSpc>
              <a:buAutoNum type="arabicPeriod" startAt="1"/>
            </a:pP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Severson, K. A., Attia, P. M., Jin, N., Perkins, N., Jiang, B., Yang, Z., Chen, M. H., Aykol, M., Herring, P. K., Fraggedakis, D., Bazant, M. Z., Harris, S. J., Chueh, W. C., &amp; Braatz, R. D. (2019). Data-driven prediction of battery cycle life before capacity degradation. Nature Energy, 4, 383–391.</a:t>
            </a:r>
          </a:p>
          <a:p>
            <a:pPr algn="l">
              <a:lnSpc>
                <a:spcPts val="3960"/>
              </a:lnSpc>
            </a:pPr>
          </a:p>
        </p:txBody>
      </p:sp>
      <p:grpSp>
        <p:nvGrpSpPr>
          <p:cNvPr name="Group 10" id="10"/>
          <p:cNvGrpSpPr/>
          <p:nvPr/>
        </p:nvGrpSpPr>
        <p:grpSpPr>
          <a:xfrm rot="0">
            <a:off x="2514600" y="9736138"/>
            <a:ext cx="11988799" cy="547688"/>
            <a:chOff x="0" y="0"/>
            <a:chExt cx="15985066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985066" cy="730250"/>
            </a:xfrm>
            <a:custGeom>
              <a:avLst/>
              <a:gdLst/>
              <a:ahLst/>
              <a:cxnLst/>
              <a:rect r="r" b="b" t="t" l="l"/>
              <a:pathLst>
                <a:path h="730250" w="15985066">
                  <a:moveTo>
                    <a:pt x="0" y="0"/>
                  </a:moveTo>
                  <a:lnTo>
                    <a:pt x="15985066" y="0"/>
                  </a:lnTo>
                  <a:lnTo>
                    <a:pt x="15985066" y="730250"/>
                  </a:lnTo>
                  <a:lnTo>
                    <a:pt x="0" y="730250"/>
                  </a:lnTo>
                  <a:close/>
                </a:path>
              </a:pathLst>
            </a:custGeom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15985066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Arial"/>
                  <a:ea typeface="Arial"/>
                  <a:cs typeface="Arial"/>
                  <a:sym typeface="Arial"/>
                </a:rPr>
                <a:t>CSE496 – First Presentation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497042" y="9736138"/>
            <a:ext cx="1388533" cy="547688"/>
            <a:chOff x="0" y="0"/>
            <a:chExt cx="1851378" cy="7302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851378" cy="730250"/>
            </a:xfrm>
            <a:custGeom>
              <a:avLst/>
              <a:gdLst/>
              <a:ahLst/>
              <a:cxnLst/>
              <a:rect r="r" b="b" t="t" l="l"/>
              <a:pathLst>
                <a:path h="730250" w="1851378">
                  <a:moveTo>
                    <a:pt x="0" y="0"/>
                  </a:moveTo>
                  <a:lnTo>
                    <a:pt x="1851378" y="0"/>
                  </a:lnTo>
                  <a:lnTo>
                    <a:pt x="1851378" y="730250"/>
                  </a:lnTo>
                  <a:lnTo>
                    <a:pt x="0" y="730250"/>
                  </a:lnTo>
                  <a:close/>
                </a:path>
              </a:pathLst>
            </a:custGeom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1851378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5713660" y="-423595"/>
            <a:ext cx="2583865" cy="2583865"/>
          </a:xfrm>
          <a:custGeom>
            <a:avLst/>
            <a:gdLst/>
            <a:ahLst/>
            <a:cxnLst/>
            <a:rect r="r" b="b" t="t" l="l"/>
            <a:pathLst>
              <a:path h="2583865" w="2583865">
                <a:moveTo>
                  <a:pt x="0" y="0"/>
                </a:moveTo>
                <a:lnTo>
                  <a:pt x="2583865" y="0"/>
                </a:lnTo>
                <a:lnTo>
                  <a:pt x="2583865" y="2583865"/>
                </a:lnTo>
                <a:lnTo>
                  <a:pt x="0" y="25838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14911229" y="9736138"/>
            <a:ext cx="1585812" cy="547688"/>
            <a:chOff x="0" y="0"/>
            <a:chExt cx="2114416" cy="73025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14416" cy="730250"/>
            </a:xfrm>
            <a:custGeom>
              <a:avLst/>
              <a:gdLst/>
              <a:ahLst/>
              <a:cxnLst/>
              <a:rect r="r" b="b" t="t" l="l"/>
              <a:pathLst>
                <a:path h="730250" w="2114416">
                  <a:moveTo>
                    <a:pt x="0" y="0"/>
                  </a:moveTo>
                  <a:lnTo>
                    <a:pt x="2114416" y="0"/>
                  </a:lnTo>
                  <a:lnTo>
                    <a:pt x="2114416" y="730250"/>
                  </a:lnTo>
                  <a:lnTo>
                    <a:pt x="0" y="730250"/>
                  </a:lnTo>
                  <a:close/>
                </a:path>
              </a:pathLst>
            </a:custGeom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2114416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  <a:r>
                <a:rPr lang="en-US" sz="1800">
                  <a:solidFill>
                    <a:srgbClr val="898989"/>
                  </a:solidFill>
                  <a:latin typeface="Arial"/>
                  <a:ea typeface="Arial"/>
                  <a:cs typeface="Arial"/>
                  <a:sym typeface="Arial"/>
                </a:rPr>
                <a:t>.03.2026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93694" y="9877110"/>
            <a:ext cx="2232666" cy="343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00090"/>
                </a:solidFill>
                <a:latin typeface="Arial"/>
                <a:ea typeface="Arial"/>
                <a:cs typeface="Arial"/>
                <a:sym typeface="Arial"/>
              </a:rPr>
              <a:t>www.gtu.edu.tr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2514600" y="9736138"/>
            <a:ext cx="11988799" cy="547688"/>
            <a:chOff x="0" y="0"/>
            <a:chExt cx="15985066" cy="7302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985066" cy="730250"/>
            </a:xfrm>
            <a:custGeom>
              <a:avLst/>
              <a:gdLst/>
              <a:ahLst/>
              <a:cxnLst/>
              <a:rect r="r" b="b" t="t" l="l"/>
              <a:pathLst>
                <a:path h="730250" w="15985066">
                  <a:moveTo>
                    <a:pt x="0" y="0"/>
                  </a:moveTo>
                  <a:lnTo>
                    <a:pt x="15985066" y="0"/>
                  </a:lnTo>
                  <a:lnTo>
                    <a:pt x="15985066" y="730250"/>
                  </a:lnTo>
                  <a:lnTo>
                    <a:pt x="0" y="730250"/>
                  </a:lnTo>
                  <a:close/>
                </a:path>
              </a:pathLst>
            </a:custGeom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15985066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Arial"/>
                  <a:ea typeface="Arial"/>
                  <a:cs typeface="Arial"/>
                  <a:sym typeface="Arial"/>
                </a:rPr>
                <a:t>CSE496 – First Presentation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6497042" y="9736138"/>
            <a:ext cx="1388533" cy="547688"/>
            <a:chOff x="0" y="0"/>
            <a:chExt cx="1851378" cy="7302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51378" cy="730250"/>
            </a:xfrm>
            <a:custGeom>
              <a:avLst/>
              <a:gdLst/>
              <a:ahLst/>
              <a:cxnLst/>
              <a:rect r="r" b="b" t="t" l="l"/>
              <a:pathLst>
                <a:path h="730250" w="1851378">
                  <a:moveTo>
                    <a:pt x="0" y="0"/>
                  </a:moveTo>
                  <a:lnTo>
                    <a:pt x="1851378" y="0"/>
                  </a:lnTo>
                  <a:lnTo>
                    <a:pt x="1851378" y="730250"/>
                  </a:lnTo>
                  <a:lnTo>
                    <a:pt x="0" y="730250"/>
                  </a:lnTo>
                  <a:close/>
                </a:path>
              </a:pathLst>
            </a:custGeom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1851378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Arial"/>
                  <a:ea typeface="Arial"/>
                  <a:cs typeface="Arial"/>
                  <a:sym typeface="Arial"/>
                </a:rPr>
                <a:t>13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4915458" y="2917393"/>
            <a:ext cx="8457083" cy="3756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00"/>
              </a:lnSpc>
            </a:pPr>
            <a:r>
              <a:rPr lang="en-US" sz="14400">
                <a:solidFill>
                  <a:srgbClr val="1A3576"/>
                </a:solidFill>
                <a:latin typeface="Lato"/>
                <a:ea typeface="Lato"/>
                <a:cs typeface="Lato"/>
                <a:sym typeface="Lato"/>
              </a:rPr>
              <a:t>Thank You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393695" y="-263233"/>
            <a:ext cx="2583865" cy="2583865"/>
          </a:xfrm>
          <a:custGeom>
            <a:avLst/>
            <a:gdLst/>
            <a:ahLst/>
            <a:cxnLst/>
            <a:rect r="r" b="b" t="t" l="l"/>
            <a:pathLst>
              <a:path h="2583865" w="2583865">
                <a:moveTo>
                  <a:pt x="0" y="0"/>
                </a:moveTo>
                <a:lnTo>
                  <a:pt x="2583865" y="0"/>
                </a:lnTo>
                <a:lnTo>
                  <a:pt x="2583865" y="2583866"/>
                </a:lnTo>
                <a:lnTo>
                  <a:pt x="0" y="25838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28700" y="8404839"/>
            <a:ext cx="8457083" cy="407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799">
                <a:solidFill>
                  <a:srgbClr val="1A3576"/>
                </a:solidFill>
                <a:latin typeface="Lato"/>
                <a:ea typeface="Lato"/>
                <a:cs typeface="Lato"/>
                <a:sym typeface="Lato"/>
              </a:rPr>
              <a:t>Written by Dicle Çoban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8913495"/>
            <a:ext cx="8457083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400">
                <a:solidFill>
                  <a:srgbClr val="1A3576"/>
                </a:solidFill>
                <a:latin typeface="Lato"/>
                <a:ea typeface="Lato"/>
                <a:cs typeface="Lato"/>
                <a:sym typeface="Lato"/>
              </a:rPr>
              <a:t>Student ID: 220104004088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485783" y="8580120"/>
            <a:ext cx="8457083" cy="1011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640"/>
              </a:lnSpc>
            </a:pPr>
            <a:r>
              <a:rPr lang="en-US" sz="2400">
                <a:solidFill>
                  <a:srgbClr val="1A3576"/>
                </a:solidFill>
                <a:latin typeface="Lato"/>
                <a:ea typeface="Lato"/>
                <a:cs typeface="Lato"/>
                <a:sym typeface="Lato"/>
              </a:rPr>
              <a:t>Supervisors: Asst. Prof. Salih SARP</a:t>
            </a:r>
          </a:p>
          <a:p>
            <a:pPr algn="r">
              <a:lnSpc>
                <a:spcPts val="2640"/>
              </a:lnSpc>
            </a:pPr>
            <a:r>
              <a:rPr lang="en-US" sz="2400">
                <a:solidFill>
                  <a:srgbClr val="1A3576"/>
                </a:solidFill>
                <a:latin typeface="Lato"/>
                <a:ea typeface="Lato"/>
                <a:cs typeface="Lato"/>
                <a:sym typeface="Lato"/>
              </a:rPr>
              <a:t>Asst. Prof. Osman Safa ÇİFÇİ</a:t>
            </a:r>
          </a:p>
          <a:p>
            <a:pPr algn="r">
              <a:lnSpc>
                <a:spcPts val="2640"/>
              </a:lnSpc>
            </a:pPr>
          </a:p>
        </p:txBody>
      </p:sp>
      <p:grpSp>
        <p:nvGrpSpPr>
          <p:cNvPr name="Group 14" id="14"/>
          <p:cNvGrpSpPr/>
          <p:nvPr/>
        </p:nvGrpSpPr>
        <p:grpSpPr>
          <a:xfrm rot="0">
            <a:off x="14911229" y="9736138"/>
            <a:ext cx="1585812" cy="547688"/>
            <a:chOff x="0" y="0"/>
            <a:chExt cx="2114416" cy="7302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14416" cy="730250"/>
            </a:xfrm>
            <a:custGeom>
              <a:avLst/>
              <a:gdLst/>
              <a:ahLst/>
              <a:cxnLst/>
              <a:rect r="r" b="b" t="t" l="l"/>
              <a:pathLst>
                <a:path h="730250" w="2114416">
                  <a:moveTo>
                    <a:pt x="0" y="0"/>
                  </a:moveTo>
                  <a:lnTo>
                    <a:pt x="2114416" y="0"/>
                  </a:lnTo>
                  <a:lnTo>
                    <a:pt x="2114416" y="730250"/>
                  </a:lnTo>
                  <a:lnTo>
                    <a:pt x="0" y="730250"/>
                  </a:lnTo>
                  <a:close/>
                </a:path>
              </a:pathLst>
            </a:custGeom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2114416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  <a:r>
                <a:rPr lang="en-US" sz="1800">
                  <a:solidFill>
                    <a:srgbClr val="898989"/>
                  </a:solidFill>
                  <a:latin typeface="Arial"/>
                  <a:ea typeface="Arial"/>
                  <a:cs typeface="Arial"/>
                  <a:sym typeface="Arial"/>
                </a:rPr>
                <a:t>.03.2026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DAHIIbVJG_0</dc:identifier>
  <dcterms:modified xsi:type="dcterms:W3CDTF">2011-08-01T06:04:30Z</dcterms:modified>
  <cp:revision>1</cp:revision>
  <dc:title>AI-Powered Battery System Performance Prediction kopyası kopyası</dc:title>
</cp:coreProperties>
</file>